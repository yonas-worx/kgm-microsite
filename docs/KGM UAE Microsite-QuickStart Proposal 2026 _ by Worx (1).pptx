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Barlow Condensed"/>
      <p:regular r:id="rId16"/>
      <p:bold r:id="rId17"/>
      <p:italic r:id="rId18"/>
      <p:boldItalic r:id="rId19"/>
    </p:embeddedFont>
    <p:embeddedFont>
      <p:font typeface="DM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regular.fntdata"/><Relationship Id="rId11" Type="http://schemas.openxmlformats.org/officeDocument/2006/relationships/slide" Target="slides/slide5.xml"/><Relationship Id="rId22" Type="http://schemas.openxmlformats.org/officeDocument/2006/relationships/font" Target="fonts/DMSans-italic.fntdata"/><Relationship Id="rId10" Type="http://schemas.openxmlformats.org/officeDocument/2006/relationships/slide" Target="slides/slide4.xml"/><Relationship Id="rId21" Type="http://schemas.openxmlformats.org/officeDocument/2006/relationships/font" Target="fonts/DM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DMSans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BarlowCondensed-bold.fntdata"/><Relationship Id="rId16" Type="http://schemas.openxmlformats.org/officeDocument/2006/relationships/font" Target="fonts/BarlowCondensed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BarlowCondensed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BarlowCondense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551826e46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551826e46_3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551826e46_3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f551826e46_3_8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551826e46_3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f551826e46_3_10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551826e46_3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f551826e46_3_13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551826e46_3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f551826e46_3_17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551826e46_3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f551826e46_3_21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551826e46_3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f551826e46_3_23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f551826e46_3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f551826e46_3_25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551826e46_3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f551826e46_3_29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Relationship Id="rId4" Type="http://schemas.openxmlformats.org/officeDocument/2006/relationships/image" Target="../media/image4.jpg"/><Relationship Id="rId9" Type="http://schemas.openxmlformats.org/officeDocument/2006/relationships/image" Target="../media/image7.jpg"/><Relationship Id="rId5" Type="http://schemas.openxmlformats.org/officeDocument/2006/relationships/image" Target="../media/image1.jpg"/><Relationship Id="rId6" Type="http://schemas.openxmlformats.org/officeDocument/2006/relationships/image" Target="../media/image10.jpg"/><Relationship Id="rId7" Type="http://schemas.openxmlformats.org/officeDocument/2006/relationships/image" Target="../media/image5.jpg"/><Relationship Id="rId8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1.jpg" id="130" name="Google Shape;13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2.png" id="131" name="Google Shape;13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7200" y="342900"/>
            <a:ext cx="1028700" cy="162663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/>
          <p:nvPr/>
        </p:nvSpPr>
        <p:spPr>
          <a:xfrm>
            <a:off x="390916" y="3120390"/>
            <a:ext cx="425207" cy="30861"/>
          </a:xfrm>
          <a:prstGeom prst="rect">
            <a:avLst/>
          </a:prstGeom>
          <a:solidFill>
            <a:srgbClr val="C4A96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377200" y="3236976"/>
            <a:ext cx="82299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AN ALTERNATE APPROACH · PROPOSAL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42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MICROSITE QUICK-START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Live before the first cars land</a:t>
            </a:r>
            <a:endParaRPr sz="1000">
              <a:solidFill>
                <a:srgbClr val="A8A39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A </a:t>
            </a:r>
            <a:r>
              <a:rPr b="0" i="0" lang="en" sz="10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bilingual, image-led microsite that captures interest from day one, while the full website is built without time pressure.</a:t>
            </a:r>
            <a:endParaRPr sz="1100"/>
          </a:p>
        </p:txBody>
      </p:sp>
      <p:sp>
        <p:nvSpPr>
          <p:cNvPr id="134" name="Google Shape;134;p25"/>
          <p:cNvSpPr txBox="1"/>
          <p:nvPr/>
        </p:nvSpPr>
        <p:spPr>
          <a:xfrm>
            <a:off x="377200" y="4766310"/>
            <a:ext cx="836698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6E6A64"/>
                </a:solidFill>
                <a:latin typeface="DM Sans"/>
                <a:ea typeface="DM Sans"/>
                <a:cs typeface="DM Sans"/>
                <a:sym typeface="DM Sans"/>
              </a:rPr>
              <a:t>PREPARED BY WORX BY GLIMPSE  ·  JULY 2026  ·  MARWAN@WORXBYGLIMPSE.COM</a:t>
            </a:r>
            <a:endParaRPr sz="1100"/>
          </a:p>
        </p:txBody>
      </p:sp>
      <p:pic>
        <p:nvPicPr>
          <p:cNvPr id="135" name="Google Shape;135;p25" title="Worx Logo - v1.png"/>
          <p:cNvPicPr preferRelativeResize="0"/>
          <p:nvPr/>
        </p:nvPicPr>
        <p:blipFill rotWithShape="1">
          <a:blip r:embed="rId5">
            <a:alphaModFix/>
          </a:blip>
          <a:srcRect b="0" l="0" r="0" t="79866"/>
          <a:stretch/>
        </p:blipFill>
        <p:spPr>
          <a:xfrm>
            <a:off x="7597239" y="266698"/>
            <a:ext cx="1299336" cy="360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5" title="Worx Logo - v1.png"/>
          <p:cNvPicPr preferRelativeResize="0"/>
          <p:nvPr/>
        </p:nvPicPr>
        <p:blipFill rotWithShape="1">
          <a:blip r:embed="rId5">
            <a:alphaModFix/>
          </a:blip>
          <a:srcRect b="26922" l="0" r="0" t="0"/>
          <a:stretch/>
        </p:blipFill>
        <p:spPr>
          <a:xfrm>
            <a:off x="7330450" y="266702"/>
            <a:ext cx="357981" cy="360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6"/>
          <p:cNvSpPr txBox="1"/>
          <p:nvPr/>
        </p:nvSpPr>
        <p:spPr>
          <a:xfrm>
            <a:off x="377200" y="288036"/>
            <a:ext cx="685818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C4A96C"/>
                </a:solidFill>
                <a:latin typeface="DM Sans"/>
                <a:ea typeface="DM Sans"/>
                <a:cs typeface="DM Sans"/>
                <a:sym typeface="DM Sans"/>
              </a:rPr>
              <a:t>WHY THIS APPROACH</a:t>
            </a:r>
            <a:endParaRPr sz="1100"/>
          </a:p>
        </p:txBody>
      </p:sp>
      <p:sp>
        <p:nvSpPr>
          <p:cNvPr id="143" name="Google Shape;143;p26"/>
          <p:cNvSpPr txBox="1"/>
          <p:nvPr/>
        </p:nvSpPr>
        <p:spPr>
          <a:xfrm>
            <a:off x="377200" y="466344"/>
            <a:ext cx="836698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MODELS LAND IN AUGUST.</a:t>
            </a:r>
            <a:endParaRPr sz="1100"/>
          </a:p>
        </p:txBody>
      </p:sp>
      <p:sp>
        <p:nvSpPr>
          <p:cNvPr id="144" name="Google Shape;144;p26"/>
          <p:cNvSpPr txBox="1"/>
          <p:nvPr/>
        </p:nvSpPr>
        <p:spPr>
          <a:xfrm>
            <a:off x="377200" y="1110996"/>
            <a:ext cx="3840600" cy="15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AF9F5"/>
                </a:solidFill>
                <a:latin typeface="DM Sans"/>
                <a:ea typeface="DM Sans"/>
                <a:cs typeface="DM Sans"/>
                <a:sym typeface="DM Sans"/>
              </a:rPr>
              <a:t>The first KGM vehicles arrive in the UAE in a matter of weeks.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 u="none" cap="none" strike="noStrike">
              <a:solidFill>
                <a:srgbClr val="FAF9F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A full website, done properly, takes months</a:t>
            </a:r>
            <a:r>
              <a:rPr lang="en" sz="900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 considering</a:t>
            </a:r>
            <a:r>
              <a:rPr b="0" i="0" lang="en" sz="9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 design system, CMS, CRM, bilingual QA. Rushing it to meet the cars would waste everything the main proposal gets right.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A8A39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AF9F5"/>
                </a:solidFill>
                <a:latin typeface="DM Sans"/>
                <a:ea typeface="DM Sans"/>
                <a:cs typeface="DM Sans"/>
                <a:sym typeface="DM Sans"/>
              </a:rPr>
              <a:t>The quick-start closes the gap: </a:t>
            </a:r>
            <a:r>
              <a:rPr b="0" i="0" lang="en" sz="9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a premium bilingual microsite, live before the first delivery</a:t>
            </a:r>
            <a:r>
              <a:rPr lang="en" sz="900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, meanwhile</a:t>
            </a:r>
            <a:r>
              <a:rPr b="0" i="0" lang="en" sz="9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" sz="900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the </a:t>
            </a:r>
            <a:r>
              <a:rPr b="0" i="0" lang="en" sz="9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full website is built calmly alongside it.</a:t>
            </a:r>
            <a:endParaRPr sz="1100"/>
          </a:p>
        </p:txBody>
      </p:sp>
      <p:sp>
        <p:nvSpPr>
          <p:cNvPr id="145" name="Google Shape;145;p26"/>
          <p:cNvSpPr txBox="1"/>
          <p:nvPr/>
        </p:nvSpPr>
        <p:spPr>
          <a:xfrm>
            <a:off x="377200" y="3531870"/>
            <a:ext cx="38406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300" u="none" cap="none" strike="noStrike">
                <a:solidFill>
                  <a:srgbClr val="C4A96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AUGUST 2026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FIRST VEHICLES IN THE UAE</a:t>
            </a:r>
            <a:endParaRPr sz="1600"/>
          </a:p>
        </p:txBody>
      </p:sp>
      <p:sp>
        <p:nvSpPr>
          <p:cNvPr id="146" name="Google Shape;146;p26"/>
          <p:cNvSpPr/>
          <p:nvPr/>
        </p:nvSpPr>
        <p:spPr>
          <a:xfrm>
            <a:off x="4526401" y="1110996"/>
            <a:ext cx="4238357" cy="9875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6"/>
          <p:cNvSpPr/>
          <p:nvPr/>
        </p:nvSpPr>
        <p:spPr>
          <a:xfrm>
            <a:off x="4526401" y="1110996"/>
            <a:ext cx="34291" cy="987552"/>
          </a:xfrm>
          <a:prstGeom prst="rect">
            <a:avLst/>
          </a:prstGeom>
          <a:solidFill>
            <a:srgbClr val="C4A96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6"/>
          <p:cNvSpPr txBox="1"/>
          <p:nvPr/>
        </p:nvSpPr>
        <p:spPr>
          <a:xfrm>
            <a:off x="4732146" y="1261872"/>
            <a:ext cx="38748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LIVE BEFORE THE CARS ARRIVE</a:t>
            </a:r>
            <a:endParaRPr sz="1100"/>
          </a:p>
          <a:p>
            <a:pPr indent="0" lvl="0" marL="0" marR="0" rtl="0"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Launch marketing has a premium destination from day one </a:t>
            </a:r>
            <a:r>
              <a:rPr lang="en" sz="800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instead of </a:t>
            </a:r>
            <a:r>
              <a:rPr b="0" i="0" lang="en" sz="8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a “coming soon” page.</a:t>
            </a:r>
            <a:endParaRPr sz="1100"/>
          </a:p>
        </p:txBody>
      </p:sp>
      <p:sp>
        <p:nvSpPr>
          <p:cNvPr id="149" name="Google Shape;149;p26"/>
          <p:cNvSpPr/>
          <p:nvPr/>
        </p:nvSpPr>
        <p:spPr>
          <a:xfrm>
            <a:off x="4526401" y="2221992"/>
            <a:ext cx="4238357" cy="9875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6"/>
          <p:cNvSpPr/>
          <p:nvPr/>
        </p:nvSpPr>
        <p:spPr>
          <a:xfrm>
            <a:off x="4526401" y="2221992"/>
            <a:ext cx="34291" cy="987552"/>
          </a:xfrm>
          <a:prstGeom prst="rect">
            <a:avLst/>
          </a:prstGeom>
          <a:solidFill>
            <a:srgbClr val="C4A96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6"/>
          <p:cNvSpPr txBox="1"/>
          <p:nvPr/>
        </p:nvSpPr>
        <p:spPr>
          <a:xfrm>
            <a:off x="4732146" y="2372868"/>
            <a:ext cx="38748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LEADS FROM DAY ONE</a:t>
            </a:r>
            <a:endParaRPr sz="1100"/>
          </a:p>
          <a:p>
            <a:pPr indent="0" lvl="0" marL="0" marR="0" rtl="0"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Every early enquiry is captured and emailed straight to your sales team </a:t>
            </a:r>
            <a:endParaRPr sz="1100"/>
          </a:p>
        </p:txBody>
      </p:sp>
      <p:sp>
        <p:nvSpPr>
          <p:cNvPr id="152" name="Google Shape;152;p26"/>
          <p:cNvSpPr/>
          <p:nvPr/>
        </p:nvSpPr>
        <p:spPr>
          <a:xfrm>
            <a:off x="4526401" y="3332988"/>
            <a:ext cx="4238357" cy="9875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6"/>
          <p:cNvSpPr/>
          <p:nvPr/>
        </p:nvSpPr>
        <p:spPr>
          <a:xfrm>
            <a:off x="4526401" y="3332988"/>
            <a:ext cx="34291" cy="987552"/>
          </a:xfrm>
          <a:prstGeom prst="rect">
            <a:avLst/>
          </a:prstGeom>
          <a:solidFill>
            <a:srgbClr val="C4A96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6"/>
          <p:cNvSpPr txBox="1"/>
          <p:nvPr/>
        </p:nvSpPr>
        <p:spPr>
          <a:xfrm>
            <a:off x="4732146" y="3483864"/>
            <a:ext cx="38748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FULL WEBSITE, WITHOUT THE RUSH</a:t>
            </a:r>
            <a:endParaRPr sz="1100"/>
          </a:p>
          <a:p>
            <a:pPr indent="0" lvl="0" marL="0" marR="0" rtl="0"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The main site is built properly in parallel</a:t>
            </a:r>
            <a:endParaRPr sz="800">
              <a:solidFill>
                <a:srgbClr val="A8A39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D966"/>
                </a:solidFill>
                <a:latin typeface="DM Sans"/>
                <a:ea typeface="DM Sans"/>
                <a:cs typeface="DM Sans"/>
                <a:sym typeface="DM Sans"/>
              </a:rPr>
              <a:t>You benefit from </a:t>
            </a:r>
            <a:r>
              <a:rPr b="1" i="0" lang="en" sz="800" u="none" cap="none" strike="noStrike">
                <a:solidFill>
                  <a:srgbClr val="FFD966"/>
                </a:solidFill>
                <a:latin typeface="DM Sans"/>
                <a:ea typeface="DM Sans"/>
                <a:cs typeface="DM Sans"/>
                <a:sym typeface="DM Sans"/>
              </a:rPr>
              <a:t>a further 10% </a:t>
            </a:r>
            <a:r>
              <a:rPr b="1" lang="en" sz="800">
                <a:solidFill>
                  <a:srgbClr val="FFD966"/>
                </a:solidFill>
                <a:latin typeface="DM Sans"/>
                <a:ea typeface="DM Sans"/>
                <a:cs typeface="DM Sans"/>
                <a:sym typeface="DM Sans"/>
              </a:rPr>
              <a:t>discount </a:t>
            </a:r>
            <a:r>
              <a:rPr b="1" i="0" lang="en" sz="800" u="none" cap="none" strike="noStrike">
                <a:solidFill>
                  <a:srgbClr val="FFD966"/>
                </a:solidFill>
                <a:latin typeface="DM Sans"/>
                <a:ea typeface="DM Sans"/>
                <a:cs typeface="DM Sans"/>
                <a:sym typeface="DM Sans"/>
              </a:rPr>
              <a:t> if you take this path (see commercials).</a:t>
            </a:r>
            <a:endParaRPr b="1" sz="1100">
              <a:solidFill>
                <a:srgbClr val="FFD966"/>
              </a:solidFill>
            </a:endParaRPr>
          </a:p>
        </p:txBody>
      </p:sp>
      <p:sp>
        <p:nvSpPr>
          <p:cNvPr id="155" name="Google Shape;155;p26"/>
          <p:cNvSpPr txBox="1"/>
          <p:nvPr/>
        </p:nvSpPr>
        <p:spPr>
          <a:xfrm>
            <a:off x="7132510" y="4855464"/>
            <a:ext cx="16459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6E6A64"/>
                </a:solidFill>
                <a:latin typeface="DM Sans"/>
                <a:ea typeface="DM Sans"/>
                <a:cs typeface="DM Sans"/>
                <a:sym typeface="DM Sans"/>
              </a:rPr>
              <a:t>QUICK-START</a:t>
            </a:r>
            <a:endParaRPr sz="1100"/>
          </a:p>
        </p:txBody>
      </p:sp>
      <p:sp>
        <p:nvSpPr>
          <p:cNvPr id="156" name="Google Shape;156;p26"/>
          <p:cNvSpPr txBox="1"/>
          <p:nvPr/>
        </p:nvSpPr>
        <p:spPr>
          <a:xfrm>
            <a:off x="377200" y="4855464"/>
            <a:ext cx="445781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6E6A64"/>
                </a:solidFill>
                <a:latin typeface="DM Sans"/>
                <a:ea typeface="DM Sans"/>
                <a:cs typeface="DM Sans"/>
                <a:sym typeface="DM Sans"/>
              </a:rPr>
              <a:t>WORX BY GLIMPSE — KGM UAE MICROSITE QUICK-START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7"/>
          <p:cNvSpPr txBox="1"/>
          <p:nvPr/>
        </p:nvSpPr>
        <p:spPr>
          <a:xfrm>
            <a:off x="377200" y="288036"/>
            <a:ext cx="685818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C4A96C"/>
                </a:solidFill>
                <a:latin typeface="DM Sans"/>
                <a:ea typeface="DM Sans"/>
                <a:cs typeface="DM Sans"/>
                <a:sym typeface="DM Sans"/>
              </a:rPr>
              <a:t>WHAT WE BUILD</a:t>
            </a:r>
            <a:endParaRPr sz="1100"/>
          </a:p>
        </p:txBody>
      </p:sp>
      <p:sp>
        <p:nvSpPr>
          <p:cNvPr id="163" name="Google Shape;163;p27"/>
          <p:cNvSpPr txBox="1"/>
          <p:nvPr/>
        </p:nvSpPr>
        <p:spPr>
          <a:xfrm>
            <a:off x="377200" y="466344"/>
            <a:ext cx="836698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ONE PAGE. EVERYTHING THAT MATTERS.</a:t>
            </a:r>
            <a:endParaRPr sz="1100"/>
          </a:p>
        </p:txBody>
      </p:sp>
      <p:sp>
        <p:nvSpPr>
          <p:cNvPr id="164" name="Google Shape;164;p27"/>
          <p:cNvSpPr txBox="1"/>
          <p:nvPr/>
        </p:nvSpPr>
        <p:spPr>
          <a:xfrm>
            <a:off x="377200" y="973836"/>
            <a:ext cx="7887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A single premium scroll</a:t>
            </a:r>
            <a:r>
              <a:rPr lang="en" sz="900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,</a:t>
            </a:r>
            <a:r>
              <a:rPr b="0" i="0" lang="en" sz="9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 bilingual, image-led, engineered for one outcome: a registered lead.</a:t>
            </a:r>
            <a:endParaRPr sz="1100"/>
          </a:p>
        </p:txBody>
      </p:sp>
      <p:sp>
        <p:nvSpPr>
          <p:cNvPr id="165" name="Google Shape;165;p27"/>
          <p:cNvSpPr/>
          <p:nvPr/>
        </p:nvSpPr>
        <p:spPr>
          <a:xfrm>
            <a:off x="377200" y="1337310"/>
            <a:ext cx="1597957" cy="1371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7"/>
          <p:cNvSpPr/>
          <p:nvPr/>
        </p:nvSpPr>
        <p:spPr>
          <a:xfrm>
            <a:off x="377200" y="1337310"/>
            <a:ext cx="1597957" cy="34290"/>
          </a:xfrm>
          <a:prstGeom prst="rect">
            <a:avLst/>
          </a:prstGeom>
          <a:solidFill>
            <a:srgbClr val="C4A96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7"/>
          <p:cNvSpPr txBox="1"/>
          <p:nvPr/>
        </p:nvSpPr>
        <p:spPr>
          <a:xfrm>
            <a:off x="514364" y="1495044"/>
            <a:ext cx="133734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HERO</a:t>
            </a:r>
            <a:endParaRPr sz="1100"/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Cinematic arrival. One message: KGM is in the UAE.</a:t>
            </a:r>
            <a:endParaRPr sz="1100"/>
          </a:p>
        </p:txBody>
      </p:sp>
      <p:sp>
        <p:nvSpPr>
          <p:cNvPr id="168" name="Google Shape;168;p27"/>
          <p:cNvSpPr/>
          <p:nvPr/>
        </p:nvSpPr>
        <p:spPr>
          <a:xfrm>
            <a:off x="2071171" y="1337310"/>
            <a:ext cx="1597957" cy="1371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7"/>
          <p:cNvSpPr/>
          <p:nvPr/>
        </p:nvSpPr>
        <p:spPr>
          <a:xfrm>
            <a:off x="2071171" y="1337310"/>
            <a:ext cx="1597957" cy="34290"/>
          </a:xfrm>
          <a:prstGeom prst="rect">
            <a:avLst/>
          </a:prstGeom>
          <a:solidFill>
            <a:srgbClr val="C4A96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7"/>
          <p:cNvSpPr txBox="1"/>
          <p:nvPr/>
        </p:nvSpPr>
        <p:spPr>
          <a:xfrm>
            <a:off x="2208335" y="1495044"/>
            <a:ext cx="13374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MODELS</a:t>
            </a:r>
            <a:endParaRPr sz="1100"/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Image-led lineup</a:t>
            </a:r>
            <a:r>
              <a:rPr lang="en" sz="700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 names, hero shots, key numbers only.</a:t>
            </a:r>
            <a:endParaRPr sz="1100"/>
          </a:p>
        </p:txBody>
      </p:sp>
      <p:sp>
        <p:nvSpPr>
          <p:cNvPr id="171" name="Google Shape;171;p27"/>
          <p:cNvSpPr/>
          <p:nvPr/>
        </p:nvSpPr>
        <p:spPr>
          <a:xfrm>
            <a:off x="3765142" y="1337310"/>
            <a:ext cx="1597957" cy="1371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7"/>
          <p:cNvSpPr/>
          <p:nvPr/>
        </p:nvSpPr>
        <p:spPr>
          <a:xfrm>
            <a:off x="3765142" y="1337310"/>
            <a:ext cx="1597957" cy="34290"/>
          </a:xfrm>
          <a:prstGeom prst="rect">
            <a:avLst/>
          </a:prstGeom>
          <a:solidFill>
            <a:srgbClr val="C4A96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7"/>
          <p:cNvSpPr txBox="1"/>
          <p:nvPr/>
        </p:nvSpPr>
        <p:spPr>
          <a:xfrm>
            <a:off x="3902306" y="1495044"/>
            <a:ext cx="133734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GALLERY</a:t>
            </a:r>
            <a:endParaRPr sz="1100"/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Full-bleed brand imagery. No walls of text.</a:t>
            </a:r>
            <a:endParaRPr sz="1100"/>
          </a:p>
        </p:txBody>
      </p:sp>
      <p:sp>
        <p:nvSpPr>
          <p:cNvPr id="174" name="Google Shape;174;p27"/>
          <p:cNvSpPr/>
          <p:nvPr/>
        </p:nvSpPr>
        <p:spPr>
          <a:xfrm>
            <a:off x="5459114" y="1337310"/>
            <a:ext cx="1597957" cy="1371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7"/>
          <p:cNvSpPr/>
          <p:nvPr/>
        </p:nvSpPr>
        <p:spPr>
          <a:xfrm>
            <a:off x="5459114" y="1337310"/>
            <a:ext cx="1597957" cy="34290"/>
          </a:xfrm>
          <a:prstGeom prst="rect">
            <a:avLst/>
          </a:prstGeom>
          <a:solidFill>
            <a:srgbClr val="C4A96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7"/>
          <p:cNvSpPr txBox="1"/>
          <p:nvPr/>
        </p:nvSpPr>
        <p:spPr>
          <a:xfrm>
            <a:off x="5596277" y="1495044"/>
            <a:ext cx="133734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SHOWROOMS</a:t>
            </a:r>
            <a:endParaRPr sz="1100"/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Locations, hours, live map &amp; directions.</a:t>
            </a:r>
            <a:endParaRPr sz="1100"/>
          </a:p>
        </p:txBody>
      </p:sp>
      <p:sp>
        <p:nvSpPr>
          <p:cNvPr id="177" name="Google Shape;177;p27"/>
          <p:cNvSpPr/>
          <p:nvPr/>
        </p:nvSpPr>
        <p:spPr>
          <a:xfrm>
            <a:off x="7153085" y="1337310"/>
            <a:ext cx="1597957" cy="1371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7"/>
          <p:cNvSpPr/>
          <p:nvPr/>
        </p:nvSpPr>
        <p:spPr>
          <a:xfrm>
            <a:off x="7153085" y="1337310"/>
            <a:ext cx="1597957" cy="34290"/>
          </a:xfrm>
          <a:prstGeom prst="rect">
            <a:avLst/>
          </a:prstGeom>
          <a:solidFill>
            <a:srgbClr val="C4A96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7"/>
          <p:cNvSpPr txBox="1"/>
          <p:nvPr/>
        </p:nvSpPr>
        <p:spPr>
          <a:xfrm>
            <a:off x="7290248" y="1495044"/>
            <a:ext cx="133734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REGISTER INTEREST</a:t>
            </a:r>
            <a:endParaRPr sz="1100"/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A 30-second bilingual form, straight to sales.</a:t>
            </a:r>
            <a:endParaRPr sz="1100"/>
          </a:p>
        </p:txBody>
      </p:sp>
      <p:sp>
        <p:nvSpPr>
          <p:cNvPr id="180" name="Google Shape;180;p27"/>
          <p:cNvSpPr/>
          <p:nvPr/>
        </p:nvSpPr>
        <p:spPr>
          <a:xfrm>
            <a:off x="377200" y="2983229"/>
            <a:ext cx="8387558" cy="68580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/>
          <p:cNvSpPr txBox="1"/>
          <p:nvPr/>
        </p:nvSpPr>
        <p:spPr>
          <a:xfrm>
            <a:off x="548655" y="3086100"/>
            <a:ext cx="205745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C4A96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ON EVERY SCREEN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The always-there layer</a:t>
            </a:r>
            <a:endParaRPr sz="1100"/>
          </a:p>
        </p:txBody>
      </p:sp>
      <p:sp>
        <p:nvSpPr>
          <p:cNvPr id="182" name="Google Shape;182;p27"/>
          <p:cNvSpPr txBox="1"/>
          <p:nvPr/>
        </p:nvSpPr>
        <p:spPr>
          <a:xfrm>
            <a:off x="2708982" y="3086100"/>
            <a:ext cx="1474509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AF9F5"/>
                </a:solidFill>
                <a:latin typeface="DM Sans"/>
                <a:ea typeface="DM Sans"/>
                <a:cs typeface="DM Sans"/>
                <a:sym typeface="DM Sans"/>
              </a:rPr>
              <a:t>EN | AR SWITCHER</a:t>
            </a:r>
            <a:endParaRPr sz="1100"/>
          </a:p>
        </p:txBody>
      </p:sp>
      <p:sp>
        <p:nvSpPr>
          <p:cNvPr id="183" name="Google Shape;183;p27"/>
          <p:cNvSpPr txBox="1"/>
          <p:nvPr/>
        </p:nvSpPr>
        <p:spPr>
          <a:xfrm>
            <a:off x="4252073" y="3086100"/>
            <a:ext cx="1474509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AF9F5"/>
                </a:solidFill>
                <a:latin typeface="DM Sans"/>
                <a:ea typeface="DM Sans"/>
                <a:cs typeface="DM Sans"/>
                <a:sym typeface="DM Sans"/>
              </a:rPr>
              <a:t>WHATSAPP CLICK-TO-CHAT</a:t>
            </a:r>
            <a:endParaRPr sz="1100"/>
          </a:p>
        </p:txBody>
      </p:sp>
      <p:sp>
        <p:nvSpPr>
          <p:cNvPr id="184" name="Google Shape;184;p27"/>
          <p:cNvSpPr txBox="1"/>
          <p:nvPr/>
        </p:nvSpPr>
        <p:spPr>
          <a:xfrm>
            <a:off x="5795164" y="3086100"/>
            <a:ext cx="1474509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AF9F5"/>
                </a:solidFill>
                <a:latin typeface="DM Sans"/>
                <a:ea typeface="DM Sans"/>
                <a:cs typeface="DM Sans"/>
                <a:sym typeface="DM Sans"/>
              </a:rPr>
              <a:t>REGISTER-INTEREST CTA</a:t>
            </a:r>
            <a:endParaRPr sz="1100"/>
          </a:p>
        </p:txBody>
      </p:sp>
      <p:sp>
        <p:nvSpPr>
          <p:cNvPr id="185" name="Google Shape;185;p27"/>
          <p:cNvSpPr txBox="1"/>
          <p:nvPr/>
        </p:nvSpPr>
        <p:spPr>
          <a:xfrm>
            <a:off x="7338256" y="3086100"/>
            <a:ext cx="1474509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AF9F5"/>
                </a:solidFill>
                <a:latin typeface="DM Sans"/>
                <a:ea typeface="DM Sans"/>
                <a:cs typeface="DM Sans"/>
                <a:sym typeface="DM Sans"/>
              </a:rPr>
              <a:t>PDPL PRIVACY &amp; CONSENT</a:t>
            </a:r>
            <a:endParaRPr sz="1100"/>
          </a:p>
        </p:txBody>
      </p:sp>
      <p:sp>
        <p:nvSpPr>
          <p:cNvPr id="186" name="Google Shape;186;p27"/>
          <p:cNvSpPr txBox="1"/>
          <p:nvPr/>
        </p:nvSpPr>
        <p:spPr>
          <a:xfrm>
            <a:off x="377200" y="3943350"/>
            <a:ext cx="8387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AF9F5"/>
                </a:solidFill>
                <a:latin typeface="DM Sans"/>
                <a:ea typeface="DM Sans"/>
                <a:cs typeface="DM Sans"/>
                <a:sym typeface="DM Sans"/>
              </a:rPr>
              <a:t>Deliberately left out: </a:t>
            </a:r>
            <a:r>
              <a:rPr b="0" i="0" lang="en" sz="8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CMS, CRM integration, news, FAQ, warranty content, seven model detail pages. That scope belongs to the full website, priced and phased in the main proposal.</a:t>
            </a:r>
            <a:endParaRPr sz="1100"/>
          </a:p>
        </p:txBody>
      </p:sp>
      <p:sp>
        <p:nvSpPr>
          <p:cNvPr id="187" name="Google Shape;187;p27"/>
          <p:cNvSpPr txBox="1"/>
          <p:nvPr/>
        </p:nvSpPr>
        <p:spPr>
          <a:xfrm>
            <a:off x="7132510" y="4855464"/>
            <a:ext cx="16459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6E6A64"/>
                </a:solidFill>
                <a:latin typeface="DM Sans"/>
                <a:ea typeface="DM Sans"/>
                <a:cs typeface="DM Sans"/>
                <a:sym typeface="DM Sans"/>
              </a:rPr>
              <a:t>QUICK-START</a:t>
            </a:r>
            <a:endParaRPr sz="1100"/>
          </a:p>
        </p:txBody>
      </p:sp>
      <p:sp>
        <p:nvSpPr>
          <p:cNvPr id="188" name="Google Shape;188;p27"/>
          <p:cNvSpPr txBox="1"/>
          <p:nvPr/>
        </p:nvSpPr>
        <p:spPr>
          <a:xfrm>
            <a:off x="377200" y="4855464"/>
            <a:ext cx="445781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6E6A64"/>
                </a:solidFill>
                <a:latin typeface="DM Sans"/>
                <a:ea typeface="DM Sans"/>
                <a:cs typeface="DM Sans"/>
                <a:sym typeface="DM Sans"/>
              </a:rPr>
              <a:t>WORX BY GLIMPSE — KGM UAE MICROSITE QUICK-START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377200" y="288036"/>
            <a:ext cx="685818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C4A96C"/>
                </a:solidFill>
                <a:latin typeface="DM Sans"/>
                <a:ea typeface="DM Sans"/>
                <a:cs typeface="DM Sans"/>
                <a:sym typeface="DM Sans"/>
              </a:rPr>
              <a:t>THE USER JOURNEY</a:t>
            </a:r>
            <a:endParaRPr sz="1100"/>
          </a:p>
        </p:txBody>
      </p:sp>
      <p:sp>
        <p:nvSpPr>
          <p:cNvPr id="195" name="Google Shape;195;p28"/>
          <p:cNvSpPr txBox="1"/>
          <p:nvPr/>
        </p:nvSpPr>
        <p:spPr>
          <a:xfrm>
            <a:off x="377200" y="466344"/>
            <a:ext cx="836698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 SHORT SCROLL THAT SELLS</a:t>
            </a:r>
            <a:endParaRPr sz="1100"/>
          </a:p>
        </p:txBody>
      </p:sp>
      <p:sp>
        <p:nvSpPr>
          <p:cNvPr id="196" name="Google Shape;196;p28"/>
          <p:cNvSpPr/>
          <p:nvPr/>
        </p:nvSpPr>
        <p:spPr>
          <a:xfrm>
            <a:off x="377200" y="1268730"/>
            <a:ext cx="1886000" cy="10287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8"/>
          <p:cNvSpPr txBox="1"/>
          <p:nvPr/>
        </p:nvSpPr>
        <p:spPr>
          <a:xfrm>
            <a:off x="500647" y="1364742"/>
            <a:ext cx="1639106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ARRIVE</a:t>
            </a:r>
            <a:endParaRPr sz="1100"/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One cinematic screen. The car, the name, one line of copy.</a:t>
            </a:r>
            <a:endParaRPr sz="1100"/>
          </a:p>
        </p:txBody>
      </p:sp>
      <p:sp>
        <p:nvSpPr>
          <p:cNvPr id="198" name="Google Shape;198;p28"/>
          <p:cNvSpPr/>
          <p:nvPr/>
        </p:nvSpPr>
        <p:spPr>
          <a:xfrm>
            <a:off x="2345499" y="1687068"/>
            <a:ext cx="342909" cy="19202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4A96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8"/>
          <p:cNvSpPr/>
          <p:nvPr/>
        </p:nvSpPr>
        <p:spPr>
          <a:xfrm>
            <a:off x="2777564" y="1268730"/>
            <a:ext cx="1886000" cy="10287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8"/>
          <p:cNvSpPr txBox="1"/>
          <p:nvPr/>
        </p:nvSpPr>
        <p:spPr>
          <a:xfrm>
            <a:off x="2901011" y="1364742"/>
            <a:ext cx="16392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EXPLORE</a:t>
            </a:r>
            <a:endParaRPr sz="1100"/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Swipe through the models</a:t>
            </a:r>
            <a:r>
              <a:rPr lang="en" sz="700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’</a:t>
            </a: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 aesthetic shots, three key numbers each.</a:t>
            </a:r>
            <a:endParaRPr sz="1100"/>
          </a:p>
        </p:txBody>
      </p:sp>
      <p:sp>
        <p:nvSpPr>
          <p:cNvPr id="201" name="Google Shape;201;p28"/>
          <p:cNvSpPr/>
          <p:nvPr/>
        </p:nvSpPr>
        <p:spPr>
          <a:xfrm>
            <a:off x="4745863" y="1687068"/>
            <a:ext cx="342909" cy="19202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4A96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8"/>
          <p:cNvSpPr/>
          <p:nvPr/>
        </p:nvSpPr>
        <p:spPr>
          <a:xfrm>
            <a:off x="5177928" y="1268730"/>
            <a:ext cx="1886000" cy="10287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8"/>
          <p:cNvSpPr txBox="1"/>
          <p:nvPr/>
        </p:nvSpPr>
        <p:spPr>
          <a:xfrm>
            <a:off x="5301375" y="1364742"/>
            <a:ext cx="16392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TRUST</a:t>
            </a:r>
            <a:endParaRPr sz="1100"/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Gallery and showrooms. KGM is really here </a:t>
            </a:r>
            <a:r>
              <a:rPr lang="en" sz="700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and just a few </a:t>
            </a: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minutes away.</a:t>
            </a:r>
            <a:endParaRPr sz="1100"/>
          </a:p>
        </p:txBody>
      </p:sp>
      <p:sp>
        <p:nvSpPr>
          <p:cNvPr id="204" name="Google Shape;204;p28"/>
          <p:cNvSpPr/>
          <p:nvPr/>
        </p:nvSpPr>
        <p:spPr>
          <a:xfrm>
            <a:off x="7146226" y="1687068"/>
            <a:ext cx="342909" cy="19202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4A96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8"/>
          <p:cNvSpPr/>
          <p:nvPr/>
        </p:nvSpPr>
        <p:spPr>
          <a:xfrm>
            <a:off x="7578292" y="1268730"/>
            <a:ext cx="1186466" cy="1028700"/>
          </a:xfrm>
          <a:prstGeom prst="rect">
            <a:avLst/>
          </a:prstGeom>
          <a:solidFill>
            <a:srgbClr val="C4A96C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8"/>
          <p:cNvSpPr txBox="1"/>
          <p:nvPr/>
        </p:nvSpPr>
        <p:spPr>
          <a:xfrm>
            <a:off x="7701739" y="1364742"/>
            <a:ext cx="9396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51008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REGISTER</a:t>
            </a:r>
            <a:endParaRPr sz="1100"/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Name, phone, model. Sales takes over.</a:t>
            </a:r>
            <a:endParaRPr sz="1100">
              <a:solidFill>
                <a:srgbClr val="2A2A2A"/>
              </a:solidFill>
            </a:endParaRPr>
          </a:p>
        </p:txBody>
      </p:sp>
      <p:sp>
        <p:nvSpPr>
          <p:cNvPr id="207" name="Google Shape;207;p28"/>
          <p:cNvSpPr txBox="1"/>
          <p:nvPr/>
        </p:nvSpPr>
        <p:spPr>
          <a:xfrm>
            <a:off x="377200" y="2482596"/>
            <a:ext cx="836698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AF9F5"/>
                </a:solidFill>
                <a:latin typeface="DM Sans"/>
                <a:ea typeface="DM Sans"/>
                <a:cs typeface="DM Sans"/>
                <a:sym typeface="DM Sans"/>
              </a:rPr>
              <a:t>Brief but engaging — </a:t>
            </a:r>
            <a:r>
              <a:rPr b="0" i="0" lang="en" sz="8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beautiful imagery, short lines, one clear action. Built mobile-first for launch-campaign traffic.</a:t>
            </a:r>
            <a:endParaRPr sz="1100"/>
          </a:p>
        </p:txBody>
      </p:sp>
      <p:pic>
        <p:nvPicPr>
          <p:cNvPr descr="tile_tivoli.jpg" id="208" name="Google Shape;20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200" y="2983229"/>
            <a:ext cx="1152144" cy="1104138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8"/>
          <p:cNvSpPr txBox="1"/>
          <p:nvPr/>
        </p:nvSpPr>
        <p:spPr>
          <a:xfrm>
            <a:off x="377200" y="4128516"/>
            <a:ext cx="115217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TIVOLI</a:t>
            </a:r>
            <a:endParaRPr sz="1100"/>
          </a:p>
        </p:txBody>
      </p:sp>
      <p:pic>
        <p:nvPicPr>
          <p:cNvPr descr="tile_torres.jpg" id="210" name="Google Shape;21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5389" y="2983229"/>
            <a:ext cx="1152144" cy="1104138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8"/>
          <p:cNvSpPr txBox="1"/>
          <p:nvPr/>
        </p:nvSpPr>
        <p:spPr>
          <a:xfrm>
            <a:off x="1625389" y="4128516"/>
            <a:ext cx="115217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TORRES</a:t>
            </a:r>
            <a:endParaRPr sz="1100"/>
          </a:p>
        </p:txBody>
      </p:sp>
      <p:pic>
        <p:nvPicPr>
          <p:cNvPr descr="tile_torres_hybrid.jpg" id="212" name="Google Shape;212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73579" y="2983229"/>
            <a:ext cx="1152144" cy="1104138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8"/>
          <p:cNvSpPr txBox="1"/>
          <p:nvPr/>
        </p:nvSpPr>
        <p:spPr>
          <a:xfrm>
            <a:off x="2873579" y="4128516"/>
            <a:ext cx="115217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TORRES HYBRID</a:t>
            </a:r>
            <a:endParaRPr sz="1100"/>
          </a:p>
        </p:txBody>
      </p:sp>
      <p:pic>
        <p:nvPicPr>
          <p:cNvPr descr="tile_actyon.jpg" id="214" name="Google Shape;214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21768" y="2983229"/>
            <a:ext cx="1152144" cy="1104138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8"/>
          <p:cNvSpPr txBox="1"/>
          <p:nvPr/>
        </p:nvSpPr>
        <p:spPr>
          <a:xfrm>
            <a:off x="4121768" y="4128516"/>
            <a:ext cx="115217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ACTYON</a:t>
            </a:r>
            <a:endParaRPr sz="1100"/>
          </a:p>
        </p:txBody>
      </p:sp>
      <p:pic>
        <p:nvPicPr>
          <p:cNvPr descr="tile_rexton.jpg" id="216" name="Google Shape;216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69957" y="2983229"/>
            <a:ext cx="1152144" cy="110413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8"/>
          <p:cNvSpPr txBox="1"/>
          <p:nvPr/>
        </p:nvSpPr>
        <p:spPr>
          <a:xfrm>
            <a:off x="5369957" y="4128516"/>
            <a:ext cx="115217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REXTON</a:t>
            </a:r>
            <a:endParaRPr sz="1100"/>
          </a:p>
        </p:txBody>
      </p:sp>
      <p:pic>
        <p:nvPicPr>
          <p:cNvPr descr="tile_musso.jpg" id="218" name="Google Shape;218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18146" y="2983229"/>
            <a:ext cx="1152144" cy="1104138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8"/>
          <p:cNvSpPr txBox="1"/>
          <p:nvPr/>
        </p:nvSpPr>
        <p:spPr>
          <a:xfrm>
            <a:off x="6618146" y="4128516"/>
            <a:ext cx="115217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MUSSO</a:t>
            </a:r>
            <a:endParaRPr sz="1100"/>
          </a:p>
        </p:txBody>
      </p:sp>
      <p:pic>
        <p:nvPicPr>
          <p:cNvPr descr="tile_musso_ev.jpg" id="220" name="Google Shape;220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66336" y="2983229"/>
            <a:ext cx="1152144" cy="1104138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8"/>
          <p:cNvSpPr txBox="1"/>
          <p:nvPr/>
        </p:nvSpPr>
        <p:spPr>
          <a:xfrm>
            <a:off x="7866336" y="4128516"/>
            <a:ext cx="115217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MUSSO EV</a:t>
            </a:r>
            <a:endParaRPr sz="1100"/>
          </a:p>
        </p:txBody>
      </p:sp>
      <p:sp>
        <p:nvSpPr>
          <p:cNvPr id="222" name="Google Shape;222;p28"/>
          <p:cNvSpPr txBox="1"/>
          <p:nvPr/>
        </p:nvSpPr>
        <p:spPr>
          <a:xfrm>
            <a:off x="377200" y="4423410"/>
            <a:ext cx="836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6E6A64"/>
                </a:solidFill>
                <a:latin typeface="DM Sans"/>
                <a:ea typeface="DM Sans"/>
                <a:cs typeface="DM Sans"/>
                <a:sym typeface="DM Sans"/>
              </a:rPr>
              <a:t>THE LINEUP, SHOWCASED WITH OFFICIAL IMAGERY</a:t>
            </a:r>
            <a:endParaRPr b="1" sz="600">
              <a:solidFill>
                <a:srgbClr val="6E6A6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6E6A64"/>
                </a:solidFill>
                <a:latin typeface="DM Sans"/>
                <a:ea typeface="DM Sans"/>
                <a:cs typeface="DM Sans"/>
                <a:sym typeface="DM Sans"/>
              </a:rPr>
              <a:t>WHICHEVER MODELS ARRIVE FIRST LEAD THE PAGE</a:t>
            </a:r>
            <a:endParaRPr sz="1100"/>
          </a:p>
        </p:txBody>
      </p:sp>
      <p:sp>
        <p:nvSpPr>
          <p:cNvPr id="223" name="Google Shape;223;p28"/>
          <p:cNvSpPr txBox="1"/>
          <p:nvPr/>
        </p:nvSpPr>
        <p:spPr>
          <a:xfrm>
            <a:off x="7132510" y="4855464"/>
            <a:ext cx="16459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6E6A64"/>
                </a:solidFill>
                <a:latin typeface="DM Sans"/>
                <a:ea typeface="DM Sans"/>
                <a:cs typeface="DM Sans"/>
                <a:sym typeface="DM Sans"/>
              </a:rPr>
              <a:t>QUICK-START</a:t>
            </a:r>
            <a:endParaRPr sz="1100"/>
          </a:p>
        </p:txBody>
      </p:sp>
      <p:sp>
        <p:nvSpPr>
          <p:cNvPr id="224" name="Google Shape;224;p28"/>
          <p:cNvSpPr txBox="1"/>
          <p:nvPr/>
        </p:nvSpPr>
        <p:spPr>
          <a:xfrm>
            <a:off x="377200" y="4855464"/>
            <a:ext cx="445781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6E6A64"/>
                </a:solidFill>
                <a:latin typeface="DM Sans"/>
                <a:ea typeface="DM Sans"/>
                <a:cs typeface="DM Sans"/>
                <a:sym typeface="DM Sans"/>
              </a:rPr>
              <a:t>WORX BY GLIMPSE — KGM UAE MICROSITE QUICK-START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9"/>
          <p:cNvSpPr txBox="1"/>
          <p:nvPr/>
        </p:nvSpPr>
        <p:spPr>
          <a:xfrm>
            <a:off x="377200" y="288036"/>
            <a:ext cx="685818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C4A96C"/>
                </a:solidFill>
                <a:latin typeface="DM Sans"/>
                <a:ea typeface="DM Sans"/>
                <a:cs typeface="DM Sans"/>
                <a:sym typeface="DM Sans"/>
              </a:rPr>
              <a:t>BILINGUAL EN / AR</a:t>
            </a:r>
            <a:endParaRPr sz="1100"/>
          </a:p>
        </p:txBody>
      </p:sp>
      <p:sp>
        <p:nvSpPr>
          <p:cNvPr id="231" name="Google Shape;231;p29"/>
          <p:cNvSpPr txBox="1"/>
          <p:nvPr/>
        </p:nvSpPr>
        <p:spPr>
          <a:xfrm>
            <a:off x="377200" y="466344"/>
            <a:ext cx="836698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ARABIC IS A FIRST-CLASS CITIZEN</a:t>
            </a:r>
            <a:endParaRPr sz="1100"/>
          </a:p>
        </p:txBody>
      </p:sp>
      <p:sp>
        <p:nvSpPr>
          <p:cNvPr id="232" name="Google Shape;232;p29"/>
          <p:cNvSpPr/>
          <p:nvPr/>
        </p:nvSpPr>
        <p:spPr>
          <a:xfrm>
            <a:off x="582946" y="1200150"/>
            <a:ext cx="2400364" cy="178308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9"/>
          <p:cNvSpPr/>
          <p:nvPr/>
        </p:nvSpPr>
        <p:spPr>
          <a:xfrm>
            <a:off x="685818" y="1303020"/>
            <a:ext cx="2194619" cy="2057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9"/>
          <p:cNvSpPr/>
          <p:nvPr/>
        </p:nvSpPr>
        <p:spPr>
          <a:xfrm>
            <a:off x="754400" y="1351026"/>
            <a:ext cx="274327" cy="109728"/>
          </a:xfrm>
          <a:prstGeom prst="rect">
            <a:avLst/>
          </a:prstGeom>
          <a:solidFill>
            <a:srgbClr val="C4A96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9"/>
          <p:cNvSpPr/>
          <p:nvPr/>
        </p:nvSpPr>
        <p:spPr>
          <a:xfrm>
            <a:off x="2640400" y="1371600"/>
            <a:ext cx="205745" cy="6858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9"/>
          <p:cNvSpPr/>
          <p:nvPr/>
        </p:nvSpPr>
        <p:spPr>
          <a:xfrm>
            <a:off x="2297491" y="1371600"/>
            <a:ext cx="205745" cy="6858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9"/>
          <p:cNvSpPr/>
          <p:nvPr/>
        </p:nvSpPr>
        <p:spPr>
          <a:xfrm>
            <a:off x="1954582" y="1371600"/>
            <a:ext cx="205745" cy="6858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9"/>
          <p:cNvSpPr/>
          <p:nvPr/>
        </p:nvSpPr>
        <p:spPr>
          <a:xfrm>
            <a:off x="754400" y="1680210"/>
            <a:ext cx="1165891" cy="150876"/>
          </a:xfrm>
          <a:prstGeom prst="rect">
            <a:avLst/>
          </a:prstGeom>
          <a:solidFill>
            <a:srgbClr val="4A46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9"/>
          <p:cNvSpPr/>
          <p:nvPr/>
        </p:nvSpPr>
        <p:spPr>
          <a:xfrm>
            <a:off x="754400" y="1885950"/>
            <a:ext cx="754400" cy="96012"/>
          </a:xfrm>
          <a:prstGeom prst="rect">
            <a:avLst/>
          </a:prstGeom>
          <a:solidFill>
            <a:srgbClr val="3330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9"/>
          <p:cNvSpPr/>
          <p:nvPr/>
        </p:nvSpPr>
        <p:spPr>
          <a:xfrm>
            <a:off x="754400" y="2057400"/>
            <a:ext cx="548655" cy="164592"/>
          </a:xfrm>
          <a:prstGeom prst="rect">
            <a:avLst/>
          </a:prstGeom>
          <a:solidFill>
            <a:srgbClr val="C4A96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9"/>
          <p:cNvSpPr/>
          <p:nvPr/>
        </p:nvSpPr>
        <p:spPr>
          <a:xfrm>
            <a:off x="754400" y="2400300"/>
            <a:ext cx="617236" cy="41148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9"/>
          <p:cNvSpPr/>
          <p:nvPr/>
        </p:nvSpPr>
        <p:spPr>
          <a:xfrm>
            <a:off x="1474509" y="2400300"/>
            <a:ext cx="617236" cy="41148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9"/>
          <p:cNvSpPr/>
          <p:nvPr/>
        </p:nvSpPr>
        <p:spPr>
          <a:xfrm>
            <a:off x="2194619" y="2400300"/>
            <a:ext cx="617236" cy="41148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9"/>
          <p:cNvSpPr txBox="1"/>
          <p:nvPr/>
        </p:nvSpPr>
        <p:spPr>
          <a:xfrm>
            <a:off x="582946" y="3051810"/>
            <a:ext cx="2400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6E6A64"/>
                </a:solidFill>
                <a:latin typeface="DM Sans"/>
                <a:ea typeface="DM Sans"/>
                <a:cs typeface="DM Sans"/>
                <a:sym typeface="DM Sans"/>
              </a:rPr>
              <a:t>ENGLISH </a:t>
            </a:r>
            <a:r>
              <a:rPr b="1" lang="en" sz="700">
                <a:solidFill>
                  <a:srgbClr val="6E6A64"/>
                </a:solidFill>
                <a:latin typeface="DM Sans"/>
                <a:ea typeface="DM Sans"/>
                <a:cs typeface="DM Sans"/>
                <a:sym typeface="DM Sans"/>
              </a:rPr>
              <a:t>-</a:t>
            </a:r>
            <a:r>
              <a:rPr b="1" i="0" lang="en" sz="700" u="none" cap="none" strike="noStrike">
                <a:solidFill>
                  <a:srgbClr val="6E6A64"/>
                </a:solidFill>
                <a:latin typeface="DM Sans"/>
                <a:ea typeface="DM Sans"/>
                <a:cs typeface="DM Sans"/>
                <a:sym typeface="DM Sans"/>
              </a:rPr>
              <a:t> LTR</a:t>
            </a:r>
            <a:endParaRPr sz="1100"/>
          </a:p>
        </p:txBody>
      </p:sp>
      <p:sp>
        <p:nvSpPr>
          <p:cNvPr id="245" name="Google Shape;245;p29"/>
          <p:cNvSpPr/>
          <p:nvPr/>
        </p:nvSpPr>
        <p:spPr>
          <a:xfrm>
            <a:off x="3257637" y="1200150"/>
            <a:ext cx="2400364" cy="178308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9"/>
          <p:cNvSpPr/>
          <p:nvPr/>
        </p:nvSpPr>
        <p:spPr>
          <a:xfrm>
            <a:off x="3360510" y="1303020"/>
            <a:ext cx="2194619" cy="2057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9"/>
          <p:cNvSpPr/>
          <p:nvPr/>
        </p:nvSpPr>
        <p:spPr>
          <a:xfrm>
            <a:off x="5212219" y="1351026"/>
            <a:ext cx="274327" cy="109728"/>
          </a:xfrm>
          <a:prstGeom prst="rect">
            <a:avLst/>
          </a:prstGeom>
          <a:solidFill>
            <a:srgbClr val="C4A96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9"/>
          <p:cNvSpPr/>
          <p:nvPr/>
        </p:nvSpPr>
        <p:spPr>
          <a:xfrm>
            <a:off x="3497673" y="1371600"/>
            <a:ext cx="205745" cy="6858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9"/>
          <p:cNvSpPr/>
          <p:nvPr/>
        </p:nvSpPr>
        <p:spPr>
          <a:xfrm>
            <a:off x="3840582" y="1371600"/>
            <a:ext cx="205745" cy="6858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9"/>
          <p:cNvSpPr/>
          <p:nvPr/>
        </p:nvSpPr>
        <p:spPr>
          <a:xfrm>
            <a:off x="4183492" y="1371600"/>
            <a:ext cx="205745" cy="6858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9"/>
          <p:cNvSpPr/>
          <p:nvPr/>
        </p:nvSpPr>
        <p:spPr>
          <a:xfrm>
            <a:off x="4320655" y="1680210"/>
            <a:ext cx="1165891" cy="150876"/>
          </a:xfrm>
          <a:prstGeom prst="rect">
            <a:avLst/>
          </a:prstGeom>
          <a:solidFill>
            <a:srgbClr val="4A46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9"/>
          <p:cNvSpPr/>
          <p:nvPr/>
        </p:nvSpPr>
        <p:spPr>
          <a:xfrm>
            <a:off x="4732146" y="1885950"/>
            <a:ext cx="754400" cy="96012"/>
          </a:xfrm>
          <a:prstGeom prst="rect">
            <a:avLst/>
          </a:prstGeom>
          <a:solidFill>
            <a:srgbClr val="3330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9"/>
          <p:cNvSpPr/>
          <p:nvPr/>
        </p:nvSpPr>
        <p:spPr>
          <a:xfrm>
            <a:off x="4937892" y="2057400"/>
            <a:ext cx="548655" cy="164592"/>
          </a:xfrm>
          <a:prstGeom prst="rect">
            <a:avLst/>
          </a:prstGeom>
          <a:solidFill>
            <a:srgbClr val="C4A96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9"/>
          <p:cNvSpPr/>
          <p:nvPr/>
        </p:nvSpPr>
        <p:spPr>
          <a:xfrm>
            <a:off x="3429091" y="2400300"/>
            <a:ext cx="617236" cy="41148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9"/>
          <p:cNvSpPr/>
          <p:nvPr/>
        </p:nvSpPr>
        <p:spPr>
          <a:xfrm>
            <a:off x="4149201" y="2400300"/>
            <a:ext cx="617236" cy="41148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9"/>
          <p:cNvSpPr/>
          <p:nvPr/>
        </p:nvSpPr>
        <p:spPr>
          <a:xfrm>
            <a:off x="4869310" y="2400300"/>
            <a:ext cx="617236" cy="41148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9"/>
          <p:cNvSpPr txBox="1"/>
          <p:nvPr/>
        </p:nvSpPr>
        <p:spPr>
          <a:xfrm>
            <a:off x="3257637" y="3051810"/>
            <a:ext cx="2400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6E6A64"/>
                </a:solidFill>
                <a:latin typeface="DM Sans"/>
                <a:ea typeface="DM Sans"/>
                <a:cs typeface="DM Sans"/>
                <a:sym typeface="DM Sans"/>
              </a:rPr>
              <a:t>ARABIC </a:t>
            </a:r>
            <a:r>
              <a:rPr b="1" lang="en" sz="700">
                <a:solidFill>
                  <a:srgbClr val="6E6A64"/>
                </a:solidFill>
                <a:latin typeface="DM Sans"/>
                <a:ea typeface="DM Sans"/>
                <a:cs typeface="DM Sans"/>
                <a:sym typeface="DM Sans"/>
              </a:rPr>
              <a:t>-</a:t>
            </a:r>
            <a:r>
              <a:rPr b="1" i="0" lang="en" sz="700" u="none" cap="none" strike="noStrike">
                <a:solidFill>
                  <a:srgbClr val="6E6A64"/>
                </a:solidFill>
                <a:latin typeface="DM Sans"/>
                <a:ea typeface="DM Sans"/>
                <a:cs typeface="DM Sans"/>
                <a:sym typeface="DM Sans"/>
              </a:rPr>
              <a:t> RTL, FULLY MIRRORED</a:t>
            </a:r>
            <a:endParaRPr sz="1100"/>
          </a:p>
        </p:txBody>
      </p:sp>
      <p:sp>
        <p:nvSpPr>
          <p:cNvPr id="258" name="Google Shape;258;p29"/>
          <p:cNvSpPr txBox="1"/>
          <p:nvPr/>
        </p:nvSpPr>
        <p:spPr>
          <a:xfrm>
            <a:off x="5966618" y="1200150"/>
            <a:ext cx="28119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C4A96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TRUE MIRRORING</a:t>
            </a:r>
            <a:endParaRPr sz="1100"/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Layout, navigation, forms and sliders flip</a:t>
            </a:r>
            <a:r>
              <a:rPr lang="en" sz="700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,</a:t>
            </a: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 not just the text.</a:t>
            </a:r>
            <a:endParaRPr sz="1100"/>
          </a:p>
        </p:txBody>
      </p:sp>
      <p:sp>
        <p:nvSpPr>
          <p:cNvPr id="259" name="Google Shape;259;p29"/>
          <p:cNvSpPr txBox="1"/>
          <p:nvPr/>
        </p:nvSpPr>
        <p:spPr>
          <a:xfrm>
            <a:off x="5966618" y="2036826"/>
            <a:ext cx="28119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C4A96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ARABIC TYPOGRAPHY</a:t>
            </a:r>
            <a:endParaRPr sz="1100"/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Cairo typeface, tuned line-height</a:t>
            </a:r>
            <a:r>
              <a:rPr lang="en" sz="700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,</a:t>
            </a: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 designed </a:t>
            </a:r>
            <a:r>
              <a:rPr lang="en" sz="700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for</a:t>
            </a: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 Arabic.</a:t>
            </a:r>
            <a:endParaRPr sz="1100"/>
          </a:p>
        </p:txBody>
      </p:sp>
      <p:sp>
        <p:nvSpPr>
          <p:cNvPr id="260" name="Google Shape;260;p29"/>
          <p:cNvSpPr txBox="1"/>
          <p:nvPr/>
        </p:nvSpPr>
        <p:spPr>
          <a:xfrm>
            <a:off x="5966618" y="2873501"/>
            <a:ext cx="28119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C4A96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HUMAN TRANSLATION</a:t>
            </a:r>
            <a:endParaRPr sz="1100"/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All microsite copy professionally localised EN→AR</a:t>
            </a:r>
            <a:r>
              <a:rPr lang="en" sz="700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100"/>
          </a:p>
        </p:txBody>
      </p:sp>
      <p:sp>
        <p:nvSpPr>
          <p:cNvPr id="261" name="Google Shape;261;p29"/>
          <p:cNvSpPr txBox="1"/>
          <p:nvPr/>
        </p:nvSpPr>
        <p:spPr>
          <a:xfrm>
            <a:off x="5966618" y="3710178"/>
            <a:ext cx="2811854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C4A96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SMART SWITCHING</a:t>
            </a:r>
            <a:endParaRPr sz="1100"/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EN | AR toggle + hreflang, so Google serves each audience the right version.</a:t>
            </a:r>
            <a:endParaRPr sz="1100"/>
          </a:p>
        </p:txBody>
      </p:sp>
      <p:sp>
        <p:nvSpPr>
          <p:cNvPr id="262" name="Google Shape;262;p29"/>
          <p:cNvSpPr txBox="1"/>
          <p:nvPr/>
        </p:nvSpPr>
        <p:spPr>
          <a:xfrm>
            <a:off x="582946" y="3531870"/>
            <a:ext cx="50751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AF9F5"/>
                </a:solidFill>
                <a:latin typeface="DM Sans"/>
                <a:ea typeface="DM Sans"/>
                <a:cs typeface="DM Sans"/>
                <a:sym typeface="DM Sans"/>
              </a:rPr>
              <a:t>Both languages ship together on day one.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The microsite launches EN + AR simultaneously</a:t>
            </a:r>
            <a:r>
              <a:rPr b="0" i="0" lang="en" sz="8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100"/>
          </a:p>
        </p:txBody>
      </p:sp>
      <p:sp>
        <p:nvSpPr>
          <p:cNvPr id="263" name="Google Shape;263;p29"/>
          <p:cNvSpPr txBox="1"/>
          <p:nvPr/>
        </p:nvSpPr>
        <p:spPr>
          <a:xfrm>
            <a:off x="7132510" y="4855464"/>
            <a:ext cx="16459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6E6A64"/>
                </a:solidFill>
                <a:latin typeface="DM Sans"/>
                <a:ea typeface="DM Sans"/>
                <a:cs typeface="DM Sans"/>
                <a:sym typeface="DM Sans"/>
              </a:rPr>
              <a:t>QUICK-START</a:t>
            </a:r>
            <a:endParaRPr sz="1100"/>
          </a:p>
        </p:txBody>
      </p:sp>
      <p:sp>
        <p:nvSpPr>
          <p:cNvPr id="264" name="Google Shape;264;p29"/>
          <p:cNvSpPr txBox="1"/>
          <p:nvPr/>
        </p:nvSpPr>
        <p:spPr>
          <a:xfrm>
            <a:off x="377200" y="4855464"/>
            <a:ext cx="445781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6E6A64"/>
                </a:solidFill>
                <a:latin typeface="DM Sans"/>
                <a:ea typeface="DM Sans"/>
                <a:cs typeface="DM Sans"/>
                <a:sym typeface="DM Sans"/>
              </a:rPr>
              <a:t>WORX BY GLIMPSE — KGM UAE MICROSITE QUICK-START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0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0"/>
          <p:cNvSpPr txBox="1"/>
          <p:nvPr/>
        </p:nvSpPr>
        <p:spPr>
          <a:xfrm>
            <a:off x="377200" y="288036"/>
            <a:ext cx="685818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C4A96C"/>
                </a:solidFill>
                <a:latin typeface="DM Sans"/>
                <a:ea typeface="DM Sans"/>
                <a:cs typeface="DM Sans"/>
                <a:sym typeface="DM Sans"/>
              </a:rPr>
              <a:t>LEAD CAPTURE</a:t>
            </a:r>
            <a:endParaRPr sz="1100"/>
          </a:p>
        </p:txBody>
      </p:sp>
      <p:sp>
        <p:nvSpPr>
          <p:cNvPr id="271" name="Google Shape;271;p30"/>
          <p:cNvSpPr txBox="1"/>
          <p:nvPr/>
        </p:nvSpPr>
        <p:spPr>
          <a:xfrm>
            <a:off x="377200" y="466344"/>
            <a:ext cx="836698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FROM INTEREST TO INBOX IN SECONDS</a:t>
            </a:r>
            <a:endParaRPr sz="1100"/>
          </a:p>
        </p:txBody>
      </p:sp>
      <p:sp>
        <p:nvSpPr>
          <p:cNvPr id="272" name="Google Shape;272;p30"/>
          <p:cNvSpPr/>
          <p:nvPr/>
        </p:nvSpPr>
        <p:spPr>
          <a:xfrm>
            <a:off x="377200" y="1371600"/>
            <a:ext cx="1886000" cy="126873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0"/>
          <p:cNvSpPr txBox="1"/>
          <p:nvPr/>
        </p:nvSpPr>
        <p:spPr>
          <a:xfrm>
            <a:off x="500647" y="1467612"/>
            <a:ext cx="1639106" cy="1076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FILL</a:t>
            </a:r>
            <a:endParaRPr sz="1100"/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Name · phone · emirate · model of interest. 30 seconds, in English or Arabic.</a:t>
            </a:r>
            <a:endParaRPr sz="1100"/>
          </a:p>
        </p:txBody>
      </p:sp>
      <p:sp>
        <p:nvSpPr>
          <p:cNvPr id="274" name="Google Shape;274;p30"/>
          <p:cNvSpPr/>
          <p:nvPr/>
        </p:nvSpPr>
        <p:spPr>
          <a:xfrm>
            <a:off x="2345499" y="1920240"/>
            <a:ext cx="342909" cy="19202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4A96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0"/>
          <p:cNvSpPr/>
          <p:nvPr/>
        </p:nvSpPr>
        <p:spPr>
          <a:xfrm>
            <a:off x="2777564" y="1371600"/>
            <a:ext cx="1886000" cy="126873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0"/>
          <p:cNvSpPr txBox="1"/>
          <p:nvPr/>
        </p:nvSpPr>
        <p:spPr>
          <a:xfrm>
            <a:off x="2901011" y="1467612"/>
            <a:ext cx="1639106" cy="1076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VALIDATE</a:t>
            </a:r>
            <a:endParaRPr sz="1100"/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Field validation, spam &amp; bot protection, PDPL consent recorded.</a:t>
            </a:r>
            <a:endParaRPr sz="1100"/>
          </a:p>
        </p:txBody>
      </p:sp>
      <p:sp>
        <p:nvSpPr>
          <p:cNvPr id="277" name="Google Shape;277;p30"/>
          <p:cNvSpPr/>
          <p:nvPr/>
        </p:nvSpPr>
        <p:spPr>
          <a:xfrm>
            <a:off x="4745863" y="1920240"/>
            <a:ext cx="342909" cy="19202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4A96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0"/>
          <p:cNvSpPr/>
          <p:nvPr/>
        </p:nvSpPr>
        <p:spPr>
          <a:xfrm>
            <a:off x="5177928" y="1371600"/>
            <a:ext cx="1886000" cy="126873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0"/>
          <p:cNvSpPr txBox="1"/>
          <p:nvPr/>
        </p:nvSpPr>
        <p:spPr>
          <a:xfrm>
            <a:off x="5301375" y="1467612"/>
            <a:ext cx="16392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NOTIFY</a:t>
            </a:r>
            <a:endParaRPr sz="1100"/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Instant email to your salesperson </a:t>
            </a:r>
            <a:r>
              <a:rPr lang="en" sz="700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containing</a:t>
            </a: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 every detail, ready to dial.</a:t>
            </a:r>
            <a:endParaRPr sz="1100"/>
          </a:p>
        </p:txBody>
      </p:sp>
      <p:sp>
        <p:nvSpPr>
          <p:cNvPr id="280" name="Google Shape;280;p30"/>
          <p:cNvSpPr/>
          <p:nvPr/>
        </p:nvSpPr>
        <p:spPr>
          <a:xfrm>
            <a:off x="7146226" y="1920240"/>
            <a:ext cx="342909" cy="19202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4A96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0"/>
          <p:cNvSpPr/>
          <p:nvPr/>
        </p:nvSpPr>
        <p:spPr>
          <a:xfrm>
            <a:off x="7578292" y="1371600"/>
            <a:ext cx="1186466" cy="1268730"/>
          </a:xfrm>
          <a:prstGeom prst="rect">
            <a:avLst/>
          </a:prstGeom>
          <a:solidFill>
            <a:srgbClr val="C4A96C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0"/>
          <p:cNvSpPr txBox="1"/>
          <p:nvPr/>
        </p:nvSpPr>
        <p:spPr>
          <a:xfrm>
            <a:off x="7701739" y="1467612"/>
            <a:ext cx="939571" cy="1076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51008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FOLLOW UP</a:t>
            </a:r>
            <a:endParaRPr sz="1100"/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4A4028"/>
                </a:solidFill>
                <a:latin typeface="DM Sans"/>
                <a:ea typeface="DM Sans"/>
                <a:cs typeface="DM Sans"/>
                <a:sym typeface="DM Sans"/>
              </a:rPr>
              <a:t>Sales calls back while the interest is hot.</a:t>
            </a:r>
            <a:endParaRPr sz="1100"/>
          </a:p>
        </p:txBody>
      </p:sp>
      <p:sp>
        <p:nvSpPr>
          <p:cNvPr id="283" name="Google Shape;283;p30"/>
          <p:cNvSpPr/>
          <p:nvPr/>
        </p:nvSpPr>
        <p:spPr>
          <a:xfrm>
            <a:off x="377200" y="2983229"/>
            <a:ext cx="8401274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0"/>
          <p:cNvSpPr txBox="1"/>
          <p:nvPr/>
        </p:nvSpPr>
        <p:spPr>
          <a:xfrm>
            <a:off x="377200" y="3188970"/>
            <a:ext cx="4114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C4A96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WHATSAPP CLICK-TO-CHAT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For buyers who would rather message than fill a form</a:t>
            </a:r>
            <a:r>
              <a:rPr lang="en" sz="700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100"/>
          </a:p>
        </p:txBody>
      </p:sp>
      <p:sp>
        <p:nvSpPr>
          <p:cNvPr id="285" name="Google Shape;285;p30"/>
          <p:cNvSpPr txBox="1"/>
          <p:nvPr/>
        </p:nvSpPr>
        <p:spPr>
          <a:xfrm>
            <a:off x="4684139" y="3188970"/>
            <a:ext cx="4114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C4A96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GA4 EVENTS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Every submission is tracked </a:t>
            </a:r>
            <a:r>
              <a:rPr lang="en" sz="700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so</a:t>
            </a: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 marketing sees exactly which campaign produced it.</a:t>
            </a:r>
            <a:endParaRPr sz="1100"/>
          </a:p>
        </p:txBody>
      </p:sp>
      <p:sp>
        <p:nvSpPr>
          <p:cNvPr id="286" name="Google Shape;286;p30"/>
          <p:cNvSpPr txBox="1"/>
          <p:nvPr/>
        </p:nvSpPr>
        <p:spPr>
          <a:xfrm>
            <a:off x="377200" y="3943350"/>
            <a:ext cx="41148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C4A96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CRM-READY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Leads are structured and exportable</a:t>
            </a:r>
            <a:r>
              <a:rPr lang="en" sz="700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, so we can </a:t>
            </a: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import them cleanly into Zoho or CRAMS when the full website lands.</a:t>
            </a:r>
            <a:endParaRPr sz="1100"/>
          </a:p>
        </p:txBody>
      </p:sp>
      <p:sp>
        <p:nvSpPr>
          <p:cNvPr id="287" name="Google Shape;287;p30"/>
          <p:cNvSpPr txBox="1"/>
          <p:nvPr/>
        </p:nvSpPr>
        <p:spPr>
          <a:xfrm>
            <a:off x="4684139" y="3943350"/>
            <a:ext cx="4114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C4A96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NO LEAD LOST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Submissions are also logged in a running sheet</a:t>
            </a:r>
            <a:r>
              <a:rPr lang="en" sz="700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,</a:t>
            </a: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 the inbox is never the only copy.</a:t>
            </a:r>
            <a:endParaRPr sz="1100"/>
          </a:p>
        </p:txBody>
      </p:sp>
      <p:sp>
        <p:nvSpPr>
          <p:cNvPr id="288" name="Google Shape;288;p30"/>
          <p:cNvSpPr txBox="1"/>
          <p:nvPr/>
        </p:nvSpPr>
        <p:spPr>
          <a:xfrm>
            <a:off x="7132510" y="4855464"/>
            <a:ext cx="16459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6E6A64"/>
                </a:solidFill>
                <a:latin typeface="DM Sans"/>
                <a:ea typeface="DM Sans"/>
                <a:cs typeface="DM Sans"/>
                <a:sym typeface="DM Sans"/>
              </a:rPr>
              <a:t>QUICK-START</a:t>
            </a:r>
            <a:endParaRPr sz="1100"/>
          </a:p>
        </p:txBody>
      </p:sp>
      <p:sp>
        <p:nvSpPr>
          <p:cNvPr id="289" name="Google Shape;289;p30"/>
          <p:cNvSpPr txBox="1"/>
          <p:nvPr/>
        </p:nvSpPr>
        <p:spPr>
          <a:xfrm>
            <a:off x="377200" y="4855464"/>
            <a:ext cx="445781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6E6A64"/>
                </a:solidFill>
                <a:latin typeface="DM Sans"/>
                <a:ea typeface="DM Sans"/>
                <a:cs typeface="DM Sans"/>
                <a:sym typeface="DM Sans"/>
              </a:rPr>
              <a:t>WORX BY GLIMPSE — KGM UAE MICROSITE QUICK-START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1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1"/>
          <p:cNvSpPr txBox="1"/>
          <p:nvPr/>
        </p:nvSpPr>
        <p:spPr>
          <a:xfrm>
            <a:off x="377200" y="288036"/>
            <a:ext cx="685818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C4A96C"/>
                </a:solidFill>
                <a:latin typeface="DM Sans"/>
                <a:ea typeface="DM Sans"/>
                <a:cs typeface="DM Sans"/>
                <a:sym typeface="DM Sans"/>
              </a:rPr>
              <a:t>DELIVERY</a:t>
            </a:r>
            <a:endParaRPr sz="1100"/>
          </a:p>
        </p:txBody>
      </p:sp>
      <p:sp>
        <p:nvSpPr>
          <p:cNvPr id="296" name="Google Shape;296;p31"/>
          <p:cNvSpPr txBox="1"/>
          <p:nvPr/>
        </p:nvSpPr>
        <p:spPr>
          <a:xfrm>
            <a:off x="377200" y="466344"/>
            <a:ext cx="836698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LIVE IN THREE WEEKS</a:t>
            </a:r>
            <a:endParaRPr sz="1100"/>
          </a:p>
        </p:txBody>
      </p:sp>
      <p:sp>
        <p:nvSpPr>
          <p:cNvPr id="297" name="Google Shape;297;p31"/>
          <p:cNvSpPr/>
          <p:nvPr/>
        </p:nvSpPr>
        <p:spPr>
          <a:xfrm>
            <a:off x="377200" y="1200150"/>
            <a:ext cx="2729557" cy="2743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1"/>
          <p:cNvSpPr/>
          <p:nvPr/>
        </p:nvSpPr>
        <p:spPr>
          <a:xfrm>
            <a:off x="377200" y="1200150"/>
            <a:ext cx="2729557" cy="342900"/>
          </a:xfrm>
          <a:prstGeom prst="rect">
            <a:avLst/>
          </a:prstGeom>
          <a:solidFill>
            <a:srgbClr val="C4A96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1"/>
          <p:cNvSpPr txBox="1"/>
          <p:nvPr/>
        </p:nvSpPr>
        <p:spPr>
          <a:xfrm>
            <a:off x="528080" y="1275588"/>
            <a:ext cx="246894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WEEK 1</a:t>
            </a:r>
            <a:endParaRPr sz="1100"/>
          </a:p>
        </p:txBody>
      </p:sp>
      <p:sp>
        <p:nvSpPr>
          <p:cNvPr id="300" name="Google Shape;300;p31"/>
          <p:cNvSpPr txBox="1"/>
          <p:nvPr/>
        </p:nvSpPr>
        <p:spPr>
          <a:xfrm>
            <a:off x="528080" y="1714500"/>
            <a:ext cx="2434655" cy="2125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DESIGN &amp; CONTENT</a:t>
            </a:r>
            <a:endParaRPr sz="1100"/>
          </a:p>
          <a:p>
            <a:pPr indent="0" lvl="0" marL="0" marR="0" rtl="0"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FAF9F5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Design system adapted from the main proposal · EN copy written · AR translation starts</a:t>
            </a:r>
            <a:endParaRPr sz="1100"/>
          </a:p>
          <a:p>
            <a:pPr indent="0" lvl="0" marL="0" marR="0" rtl="0"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A8A39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C4A96C"/>
                </a:solidFill>
                <a:latin typeface="DM Sans"/>
                <a:ea typeface="DM Sans"/>
                <a:cs typeface="DM Sans"/>
                <a:sym typeface="DM Sans"/>
              </a:rPr>
              <a:t>OUTCOME</a:t>
            </a:r>
            <a:endParaRPr sz="1100"/>
          </a:p>
          <a:p>
            <a:pPr indent="0" lvl="0" marL="0" marR="0" rtl="0"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AF9F5"/>
                </a:solidFill>
                <a:latin typeface="DM Sans"/>
                <a:ea typeface="DM Sans"/>
                <a:cs typeface="DM Sans"/>
                <a:sym typeface="DM Sans"/>
              </a:rPr>
              <a:t>A signed-off design, both languages in hand</a:t>
            </a:r>
            <a:endParaRPr sz="1100"/>
          </a:p>
        </p:txBody>
      </p:sp>
      <p:sp>
        <p:nvSpPr>
          <p:cNvPr id="301" name="Google Shape;301;p31"/>
          <p:cNvSpPr/>
          <p:nvPr/>
        </p:nvSpPr>
        <p:spPr>
          <a:xfrm>
            <a:off x="3243920" y="1200150"/>
            <a:ext cx="2729557" cy="2743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1"/>
          <p:cNvSpPr/>
          <p:nvPr/>
        </p:nvSpPr>
        <p:spPr>
          <a:xfrm>
            <a:off x="3243920" y="1200150"/>
            <a:ext cx="2729557" cy="342900"/>
          </a:xfrm>
          <a:prstGeom prst="rect">
            <a:avLst/>
          </a:prstGeom>
          <a:solidFill>
            <a:srgbClr val="9582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1"/>
          <p:cNvSpPr txBox="1"/>
          <p:nvPr/>
        </p:nvSpPr>
        <p:spPr>
          <a:xfrm>
            <a:off x="3394800" y="1275588"/>
            <a:ext cx="246894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WEEK 2</a:t>
            </a:r>
            <a:endParaRPr sz="1100"/>
          </a:p>
        </p:txBody>
      </p:sp>
      <p:sp>
        <p:nvSpPr>
          <p:cNvPr id="304" name="Google Shape;304;p31"/>
          <p:cNvSpPr txBox="1"/>
          <p:nvPr/>
        </p:nvSpPr>
        <p:spPr>
          <a:xfrm>
            <a:off x="3394800" y="1714500"/>
            <a:ext cx="2434655" cy="2125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BUILD</a:t>
            </a:r>
            <a:endParaRPr sz="1100"/>
          </a:p>
          <a:p>
            <a:pPr indent="0" lvl="0" marL="0" marR="0" rtl="0"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FAF9F5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Bilingual build EN + AR · interest form &amp; email routing · imagery, models &amp; showrooms in place</a:t>
            </a:r>
            <a:endParaRPr sz="1100"/>
          </a:p>
          <a:p>
            <a:pPr indent="0" lvl="0" marL="0" marR="0" rtl="0"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A8A39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C4A96C"/>
                </a:solidFill>
                <a:latin typeface="DM Sans"/>
                <a:ea typeface="DM Sans"/>
                <a:cs typeface="DM Sans"/>
                <a:sym typeface="DM Sans"/>
              </a:rPr>
              <a:t>OUTCOME</a:t>
            </a:r>
            <a:endParaRPr sz="1100"/>
          </a:p>
          <a:p>
            <a:pPr indent="0" lvl="0" marL="0" marR="0" rtl="0"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AF9F5"/>
                </a:solidFill>
                <a:latin typeface="DM Sans"/>
                <a:ea typeface="DM Sans"/>
                <a:cs typeface="DM Sans"/>
                <a:sym typeface="DM Sans"/>
              </a:rPr>
              <a:t>A working microsite on a private staging link</a:t>
            </a:r>
            <a:endParaRPr sz="1100"/>
          </a:p>
        </p:txBody>
      </p:sp>
      <p:sp>
        <p:nvSpPr>
          <p:cNvPr id="305" name="Google Shape;305;p31"/>
          <p:cNvSpPr/>
          <p:nvPr/>
        </p:nvSpPr>
        <p:spPr>
          <a:xfrm>
            <a:off x="6110641" y="1200150"/>
            <a:ext cx="2729557" cy="2743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1"/>
          <p:cNvSpPr/>
          <p:nvPr/>
        </p:nvSpPr>
        <p:spPr>
          <a:xfrm>
            <a:off x="6110641" y="1200150"/>
            <a:ext cx="2729557" cy="342900"/>
          </a:xfrm>
          <a:prstGeom prst="rect">
            <a:avLst/>
          </a:prstGeom>
          <a:solidFill>
            <a:srgbClr val="6D614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1"/>
          <p:cNvSpPr txBox="1"/>
          <p:nvPr/>
        </p:nvSpPr>
        <p:spPr>
          <a:xfrm>
            <a:off x="6261521" y="1275588"/>
            <a:ext cx="2469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WEEK 3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08" name="Google Shape;308;p31"/>
          <p:cNvSpPr txBox="1"/>
          <p:nvPr/>
        </p:nvSpPr>
        <p:spPr>
          <a:xfrm>
            <a:off x="6261521" y="1714500"/>
            <a:ext cx="2434800" cy="12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POLISH &amp; LAUNCH</a:t>
            </a:r>
            <a:endParaRPr sz="1100"/>
          </a:p>
          <a:p>
            <a:pPr indent="0" lvl="0" marL="0" marR="0" rtl="0"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FAF9F5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Bilingual QA on real phones · GA4 events verified · domain, SSL &amp; go-live</a:t>
            </a:r>
            <a:endParaRPr sz="1100"/>
          </a:p>
          <a:p>
            <a:pPr indent="0" lvl="0" marL="0" marR="0" rtl="0"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A8A39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C4A96C"/>
                </a:solidFill>
                <a:latin typeface="DM Sans"/>
                <a:ea typeface="DM Sans"/>
                <a:cs typeface="DM Sans"/>
                <a:sym typeface="DM Sans"/>
              </a:rPr>
              <a:t>OUTCOME</a:t>
            </a:r>
            <a:endParaRPr sz="1100"/>
          </a:p>
          <a:p>
            <a:pPr indent="0" lvl="0" marL="0" marR="0" rtl="0"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AF9F5"/>
                </a:solidFill>
                <a:latin typeface="DM Sans"/>
                <a:ea typeface="DM Sans"/>
                <a:cs typeface="DM Sans"/>
                <a:sym typeface="DM Sans"/>
              </a:rPr>
              <a:t>LIVE before the first cars land</a:t>
            </a:r>
            <a:endParaRPr sz="1100"/>
          </a:p>
        </p:txBody>
      </p:sp>
      <p:sp>
        <p:nvSpPr>
          <p:cNvPr id="309" name="Google Shape;309;p31"/>
          <p:cNvSpPr txBox="1"/>
          <p:nvPr/>
        </p:nvSpPr>
        <p:spPr>
          <a:xfrm>
            <a:off x="377200" y="4183380"/>
            <a:ext cx="8401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Clock starts on go-ahead plus brand assets (imagery, showroom details, spec sheet).</a:t>
            </a:r>
            <a:endParaRPr sz="1100"/>
          </a:p>
        </p:txBody>
      </p:sp>
      <p:sp>
        <p:nvSpPr>
          <p:cNvPr id="310" name="Google Shape;310;p31"/>
          <p:cNvSpPr txBox="1"/>
          <p:nvPr/>
        </p:nvSpPr>
        <p:spPr>
          <a:xfrm>
            <a:off x="7132510" y="4855464"/>
            <a:ext cx="16459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6E6A64"/>
                </a:solidFill>
                <a:latin typeface="DM Sans"/>
                <a:ea typeface="DM Sans"/>
                <a:cs typeface="DM Sans"/>
                <a:sym typeface="DM Sans"/>
              </a:rPr>
              <a:t>QUICK-START</a:t>
            </a:r>
            <a:endParaRPr sz="1100"/>
          </a:p>
        </p:txBody>
      </p:sp>
      <p:sp>
        <p:nvSpPr>
          <p:cNvPr id="311" name="Google Shape;311;p31"/>
          <p:cNvSpPr txBox="1"/>
          <p:nvPr/>
        </p:nvSpPr>
        <p:spPr>
          <a:xfrm>
            <a:off x="377200" y="4855464"/>
            <a:ext cx="445781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6E6A64"/>
                </a:solidFill>
                <a:latin typeface="DM Sans"/>
                <a:ea typeface="DM Sans"/>
                <a:cs typeface="DM Sans"/>
                <a:sym typeface="DM Sans"/>
              </a:rPr>
              <a:t>WORX BY GLIMPSE — KGM UAE MICROSITE QUICK-START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2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2"/>
          <p:cNvSpPr txBox="1"/>
          <p:nvPr/>
        </p:nvSpPr>
        <p:spPr>
          <a:xfrm>
            <a:off x="377200" y="288036"/>
            <a:ext cx="685818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C4A96C"/>
                </a:solidFill>
                <a:latin typeface="DM Sans"/>
                <a:ea typeface="DM Sans"/>
                <a:cs typeface="DM Sans"/>
                <a:sym typeface="DM Sans"/>
              </a:rPr>
              <a:t>COMMERCIALS — FAIRLY PRICED, FIXED</a:t>
            </a:r>
            <a:endParaRPr sz="1100"/>
          </a:p>
        </p:txBody>
      </p:sp>
      <p:sp>
        <p:nvSpPr>
          <p:cNvPr id="318" name="Google Shape;318;p32"/>
          <p:cNvSpPr txBox="1"/>
          <p:nvPr/>
        </p:nvSpPr>
        <p:spPr>
          <a:xfrm>
            <a:off x="377200" y="466344"/>
            <a:ext cx="836698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QUICK-START INVESTMENT</a:t>
            </a:r>
            <a:endParaRPr sz="1100"/>
          </a:p>
        </p:txBody>
      </p:sp>
      <p:sp>
        <p:nvSpPr>
          <p:cNvPr id="319" name="Google Shape;319;p32"/>
          <p:cNvSpPr/>
          <p:nvPr/>
        </p:nvSpPr>
        <p:spPr>
          <a:xfrm>
            <a:off x="377200" y="1110996"/>
            <a:ext cx="5555128" cy="233172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2"/>
          <p:cNvSpPr txBox="1"/>
          <p:nvPr/>
        </p:nvSpPr>
        <p:spPr>
          <a:xfrm>
            <a:off x="493789" y="1145286"/>
            <a:ext cx="34290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6E6A64"/>
                </a:solidFill>
                <a:latin typeface="DM Sans"/>
                <a:ea typeface="DM Sans"/>
                <a:cs typeface="DM Sans"/>
                <a:sym typeface="DM Sans"/>
              </a:rPr>
              <a:t>MODULE</a:t>
            </a:r>
            <a:endParaRPr sz="1100"/>
          </a:p>
        </p:txBody>
      </p:sp>
      <p:sp>
        <p:nvSpPr>
          <p:cNvPr id="321" name="Google Shape;321;p32"/>
          <p:cNvSpPr txBox="1"/>
          <p:nvPr/>
        </p:nvSpPr>
        <p:spPr>
          <a:xfrm>
            <a:off x="4526401" y="1145286"/>
            <a:ext cx="126876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6E6A64"/>
                </a:solidFill>
                <a:latin typeface="DM Sans"/>
                <a:ea typeface="DM Sans"/>
                <a:cs typeface="DM Sans"/>
                <a:sym typeface="DM Sans"/>
              </a:rPr>
              <a:t>AED (EXCL. VAT)</a:t>
            </a:r>
            <a:endParaRPr sz="1100"/>
          </a:p>
        </p:txBody>
      </p:sp>
      <p:sp>
        <p:nvSpPr>
          <p:cNvPr id="322" name="Google Shape;322;p32"/>
          <p:cNvSpPr/>
          <p:nvPr/>
        </p:nvSpPr>
        <p:spPr>
          <a:xfrm>
            <a:off x="377200" y="1364742"/>
            <a:ext cx="5555128" cy="3429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2"/>
          <p:cNvSpPr txBox="1"/>
          <p:nvPr/>
        </p:nvSpPr>
        <p:spPr>
          <a:xfrm>
            <a:off x="493789" y="1453896"/>
            <a:ext cx="342909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C4A96C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  <a:endParaRPr sz="1100"/>
          </a:p>
        </p:txBody>
      </p:sp>
      <p:sp>
        <p:nvSpPr>
          <p:cNvPr id="324" name="Google Shape;324;p32"/>
          <p:cNvSpPr txBox="1"/>
          <p:nvPr/>
        </p:nvSpPr>
        <p:spPr>
          <a:xfrm>
            <a:off x="857273" y="1453896"/>
            <a:ext cx="3566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FAF9F5"/>
                </a:solidFill>
                <a:latin typeface="DM Sans"/>
                <a:ea typeface="DM Sans"/>
                <a:cs typeface="DM Sans"/>
                <a:sym typeface="DM Sans"/>
              </a:rPr>
              <a:t>Design &amp; build </a:t>
            </a:r>
            <a:r>
              <a:rPr lang="en" sz="700">
                <a:solidFill>
                  <a:srgbClr val="FAF9F5"/>
                </a:solidFill>
                <a:latin typeface="DM Sans"/>
                <a:ea typeface="DM Sans"/>
                <a:cs typeface="DM Sans"/>
                <a:sym typeface="DM Sans"/>
              </a:rPr>
              <a:t>		</a:t>
            </a:r>
            <a:r>
              <a:rPr b="0" i="0" lang="en" sz="700" u="none" cap="none" strike="noStrike">
                <a:solidFill>
                  <a:srgbClr val="FAF9F5"/>
                </a:solidFill>
                <a:latin typeface="DM Sans"/>
                <a:ea typeface="DM Sans"/>
                <a:cs typeface="DM Sans"/>
                <a:sym typeface="DM Sans"/>
              </a:rPr>
              <a:t>one-page microsite, all five sections, mobile-first</a:t>
            </a:r>
            <a:endParaRPr sz="1100"/>
          </a:p>
        </p:txBody>
      </p:sp>
      <p:sp>
        <p:nvSpPr>
          <p:cNvPr id="325" name="Google Shape;325;p32"/>
          <p:cNvSpPr txBox="1"/>
          <p:nvPr/>
        </p:nvSpPr>
        <p:spPr>
          <a:xfrm>
            <a:off x="4526401" y="1453896"/>
            <a:ext cx="126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FAF9F5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r>
              <a:rPr b="1" i="0" lang="en" sz="700" u="none" cap="none" strike="noStrike">
                <a:solidFill>
                  <a:srgbClr val="FAF9F5"/>
                </a:solidFill>
                <a:latin typeface="DM Sans"/>
                <a:ea typeface="DM Sans"/>
                <a:cs typeface="DM Sans"/>
                <a:sym typeface="DM Sans"/>
              </a:rPr>
              <a:t>,500</a:t>
            </a:r>
            <a:endParaRPr sz="1100"/>
          </a:p>
        </p:txBody>
      </p:sp>
      <p:sp>
        <p:nvSpPr>
          <p:cNvPr id="326" name="Google Shape;326;p32"/>
          <p:cNvSpPr txBox="1"/>
          <p:nvPr/>
        </p:nvSpPr>
        <p:spPr>
          <a:xfrm>
            <a:off x="493789" y="1810512"/>
            <a:ext cx="342909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C4A96C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  <a:endParaRPr sz="1100"/>
          </a:p>
        </p:txBody>
      </p:sp>
      <p:sp>
        <p:nvSpPr>
          <p:cNvPr id="327" name="Google Shape;327;p32"/>
          <p:cNvSpPr txBox="1"/>
          <p:nvPr/>
        </p:nvSpPr>
        <p:spPr>
          <a:xfrm>
            <a:off x="857273" y="1810512"/>
            <a:ext cx="3566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Arabic </a:t>
            </a:r>
            <a:r>
              <a:rPr lang="en" sz="700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			</a:t>
            </a: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RTL build + professional EN→AR translation</a:t>
            </a:r>
            <a:endParaRPr sz="1100"/>
          </a:p>
        </p:txBody>
      </p:sp>
      <p:sp>
        <p:nvSpPr>
          <p:cNvPr id="328" name="Google Shape;328;p32"/>
          <p:cNvSpPr txBox="1"/>
          <p:nvPr/>
        </p:nvSpPr>
        <p:spPr>
          <a:xfrm>
            <a:off x="4526401" y="1810512"/>
            <a:ext cx="12687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AF9F5"/>
                </a:solidFill>
                <a:latin typeface="DM Sans"/>
                <a:ea typeface="DM Sans"/>
                <a:cs typeface="DM Sans"/>
                <a:sym typeface="DM Sans"/>
              </a:rPr>
              <a:t>2,500</a:t>
            </a:r>
            <a:endParaRPr sz="1100"/>
          </a:p>
        </p:txBody>
      </p:sp>
      <p:sp>
        <p:nvSpPr>
          <p:cNvPr id="329" name="Google Shape;329;p32"/>
          <p:cNvSpPr/>
          <p:nvPr/>
        </p:nvSpPr>
        <p:spPr>
          <a:xfrm>
            <a:off x="377200" y="2077974"/>
            <a:ext cx="5555128" cy="3429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2"/>
          <p:cNvSpPr txBox="1"/>
          <p:nvPr/>
        </p:nvSpPr>
        <p:spPr>
          <a:xfrm>
            <a:off x="493789" y="2167128"/>
            <a:ext cx="342909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C4A96C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  <a:endParaRPr sz="1100"/>
          </a:p>
        </p:txBody>
      </p:sp>
      <p:sp>
        <p:nvSpPr>
          <p:cNvPr id="331" name="Google Shape;331;p32"/>
          <p:cNvSpPr txBox="1"/>
          <p:nvPr/>
        </p:nvSpPr>
        <p:spPr>
          <a:xfrm>
            <a:off x="857273" y="2167128"/>
            <a:ext cx="3566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FAF9F5"/>
                </a:solidFill>
                <a:latin typeface="DM Sans"/>
                <a:ea typeface="DM Sans"/>
                <a:cs typeface="DM Sans"/>
                <a:sym typeface="DM Sans"/>
              </a:rPr>
              <a:t>Interest form </a:t>
            </a:r>
            <a:r>
              <a:rPr lang="en" sz="700">
                <a:solidFill>
                  <a:srgbClr val="FAF9F5"/>
                </a:solidFill>
                <a:latin typeface="DM Sans"/>
                <a:ea typeface="DM Sans"/>
                <a:cs typeface="DM Sans"/>
                <a:sym typeface="DM Sans"/>
              </a:rPr>
              <a:t>		V</a:t>
            </a:r>
            <a:r>
              <a:rPr b="0" i="0" lang="en" sz="700" u="none" cap="none" strike="noStrike">
                <a:solidFill>
                  <a:srgbClr val="FAF9F5"/>
                </a:solidFill>
                <a:latin typeface="DM Sans"/>
                <a:ea typeface="DM Sans"/>
                <a:cs typeface="DM Sans"/>
                <a:sym typeface="DM Sans"/>
              </a:rPr>
              <a:t>alidation, spam protection, instant email to sales</a:t>
            </a:r>
            <a:endParaRPr sz="1100"/>
          </a:p>
        </p:txBody>
      </p:sp>
      <p:sp>
        <p:nvSpPr>
          <p:cNvPr id="332" name="Google Shape;332;p32"/>
          <p:cNvSpPr txBox="1"/>
          <p:nvPr/>
        </p:nvSpPr>
        <p:spPr>
          <a:xfrm>
            <a:off x="4526401" y="2167128"/>
            <a:ext cx="12687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AF9F5"/>
                </a:solidFill>
                <a:latin typeface="DM Sans"/>
                <a:ea typeface="DM Sans"/>
                <a:cs typeface="DM Sans"/>
                <a:sym typeface="DM Sans"/>
              </a:rPr>
              <a:t>1,500</a:t>
            </a:r>
            <a:endParaRPr sz="1100"/>
          </a:p>
        </p:txBody>
      </p:sp>
      <p:sp>
        <p:nvSpPr>
          <p:cNvPr id="333" name="Google Shape;333;p32"/>
          <p:cNvSpPr txBox="1"/>
          <p:nvPr/>
        </p:nvSpPr>
        <p:spPr>
          <a:xfrm>
            <a:off x="493789" y="2523744"/>
            <a:ext cx="342909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C4A96C"/>
                </a:solidFill>
                <a:latin typeface="DM Sans"/>
                <a:ea typeface="DM Sans"/>
                <a:cs typeface="DM Sans"/>
                <a:sym typeface="DM Sans"/>
              </a:rPr>
              <a:t>04</a:t>
            </a:r>
            <a:endParaRPr sz="1100"/>
          </a:p>
        </p:txBody>
      </p:sp>
      <p:sp>
        <p:nvSpPr>
          <p:cNvPr id="334" name="Google Shape;334;p32"/>
          <p:cNvSpPr txBox="1"/>
          <p:nvPr/>
        </p:nvSpPr>
        <p:spPr>
          <a:xfrm>
            <a:off x="857273" y="2523744"/>
            <a:ext cx="3566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SEO/</a:t>
            </a:r>
            <a:r>
              <a:rPr lang="en" sz="700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Analytics		</a:t>
            </a: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 essentials + GA4 analytics events</a:t>
            </a:r>
            <a:endParaRPr sz="1100"/>
          </a:p>
        </p:txBody>
      </p:sp>
      <p:sp>
        <p:nvSpPr>
          <p:cNvPr id="335" name="Google Shape;335;p32"/>
          <p:cNvSpPr txBox="1"/>
          <p:nvPr/>
        </p:nvSpPr>
        <p:spPr>
          <a:xfrm>
            <a:off x="4526401" y="2523744"/>
            <a:ext cx="12687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AF9F5"/>
                </a:solidFill>
                <a:latin typeface="DM Sans"/>
                <a:ea typeface="DM Sans"/>
                <a:cs typeface="DM Sans"/>
                <a:sym typeface="DM Sans"/>
              </a:rPr>
              <a:t>1,000</a:t>
            </a:r>
            <a:endParaRPr sz="1100"/>
          </a:p>
        </p:txBody>
      </p:sp>
      <p:sp>
        <p:nvSpPr>
          <p:cNvPr id="336" name="Google Shape;336;p32"/>
          <p:cNvSpPr/>
          <p:nvPr/>
        </p:nvSpPr>
        <p:spPr>
          <a:xfrm>
            <a:off x="377200" y="2791206"/>
            <a:ext cx="5555128" cy="3429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2"/>
          <p:cNvSpPr txBox="1"/>
          <p:nvPr/>
        </p:nvSpPr>
        <p:spPr>
          <a:xfrm>
            <a:off x="493789" y="2880360"/>
            <a:ext cx="342909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C4A96C"/>
                </a:solidFill>
                <a:latin typeface="DM Sans"/>
                <a:ea typeface="DM Sans"/>
                <a:cs typeface="DM Sans"/>
                <a:sym typeface="DM Sans"/>
              </a:rPr>
              <a:t>05</a:t>
            </a:r>
            <a:endParaRPr sz="1100"/>
          </a:p>
        </p:txBody>
      </p:sp>
      <p:sp>
        <p:nvSpPr>
          <p:cNvPr id="338" name="Google Shape;338;p32"/>
          <p:cNvSpPr txBox="1"/>
          <p:nvPr/>
        </p:nvSpPr>
        <p:spPr>
          <a:xfrm>
            <a:off x="857273" y="2880360"/>
            <a:ext cx="3566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FAF9F5"/>
                </a:solidFill>
                <a:latin typeface="DM Sans"/>
                <a:ea typeface="DM Sans"/>
                <a:cs typeface="DM Sans"/>
                <a:sym typeface="DM Sans"/>
              </a:rPr>
              <a:t>Bilingual QA &amp; launch 		Includes </a:t>
            </a:r>
            <a:r>
              <a:rPr lang="en" sz="700">
                <a:solidFill>
                  <a:srgbClr val="FAF9F5"/>
                </a:solidFill>
                <a:latin typeface="DM Sans"/>
                <a:ea typeface="DM Sans"/>
                <a:cs typeface="DM Sans"/>
                <a:sym typeface="DM Sans"/>
              </a:rPr>
              <a:t>20</a:t>
            </a:r>
            <a:r>
              <a:rPr b="0" i="0" lang="en" sz="700" u="none" cap="none" strike="noStrike">
                <a:solidFill>
                  <a:srgbClr val="FAF9F5"/>
                </a:solidFill>
                <a:latin typeface="DM Sans"/>
                <a:ea typeface="DM Sans"/>
                <a:cs typeface="DM Sans"/>
                <a:sym typeface="DM Sans"/>
              </a:rPr>
              <a:t>-day stabilisation period</a:t>
            </a:r>
            <a:endParaRPr sz="700">
              <a:solidFill>
                <a:srgbClr val="FAF9F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4526401" y="2880360"/>
            <a:ext cx="12687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AF9F5"/>
                </a:solidFill>
                <a:latin typeface="DM Sans"/>
                <a:ea typeface="DM Sans"/>
                <a:cs typeface="DM Sans"/>
                <a:sym typeface="DM Sans"/>
              </a:rPr>
              <a:t>1,500</a:t>
            </a:r>
            <a:endParaRPr sz="1100"/>
          </a:p>
        </p:txBody>
      </p:sp>
      <p:sp>
        <p:nvSpPr>
          <p:cNvPr id="340" name="Google Shape;340;p32"/>
          <p:cNvSpPr/>
          <p:nvPr/>
        </p:nvSpPr>
        <p:spPr>
          <a:xfrm>
            <a:off x="377200" y="3202686"/>
            <a:ext cx="5555128" cy="342900"/>
          </a:xfrm>
          <a:prstGeom prst="rect">
            <a:avLst/>
          </a:prstGeom>
          <a:solidFill>
            <a:srgbClr val="C4A96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2"/>
          <p:cNvSpPr txBox="1"/>
          <p:nvPr/>
        </p:nvSpPr>
        <p:spPr>
          <a:xfrm>
            <a:off x="493789" y="3284982"/>
            <a:ext cx="274327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51008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TOTAL — FIXED PRICE</a:t>
            </a:r>
            <a:endParaRPr sz="1100"/>
          </a:p>
        </p:txBody>
      </p:sp>
      <p:sp>
        <p:nvSpPr>
          <p:cNvPr id="342" name="Google Shape;342;p32"/>
          <p:cNvSpPr txBox="1"/>
          <p:nvPr/>
        </p:nvSpPr>
        <p:spPr>
          <a:xfrm>
            <a:off x="2743273" y="3284982"/>
            <a:ext cx="3051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4A4028"/>
                </a:solidFill>
                <a:latin typeface="DM Sans"/>
                <a:ea typeface="DM Sans"/>
                <a:cs typeface="DM Sans"/>
                <a:sym typeface="DM Sans"/>
              </a:rPr>
              <a:t>(USD </a:t>
            </a:r>
            <a:r>
              <a:rPr b="1" lang="en" sz="800">
                <a:solidFill>
                  <a:srgbClr val="4A4028"/>
                </a:solidFill>
                <a:latin typeface="DM Sans"/>
                <a:ea typeface="DM Sans"/>
                <a:cs typeface="DM Sans"/>
                <a:sym typeface="DM Sans"/>
              </a:rPr>
              <a:t>2,995</a:t>
            </a:r>
            <a:r>
              <a:rPr b="1" i="0" lang="en" sz="800" u="none" cap="none" strike="noStrike">
                <a:solidFill>
                  <a:srgbClr val="4A4028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r>
              <a:rPr b="1" i="0" lang="en" sz="1100" u="none" cap="none" strike="noStrike">
                <a:solidFill>
                  <a:srgbClr val="151008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   AED 1</a:t>
            </a:r>
            <a:r>
              <a:rPr b="1" lang="en" sz="1100">
                <a:solidFill>
                  <a:srgbClr val="151008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1</a:t>
            </a:r>
            <a:r>
              <a:rPr b="1" i="0" lang="en" sz="1100" u="none" cap="none" strike="noStrike">
                <a:solidFill>
                  <a:srgbClr val="151008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,000 + VAT</a:t>
            </a:r>
            <a:endParaRPr sz="1100"/>
          </a:p>
        </p:txBody>
      </p:sp>
      <p:sp>
        <p:nvSpPr>
          <p:cNvPr id="343" name="Google Shape;343;p32"/>
          <p:cNvSpPr txBox="1"/>
          <p:nvPr/>
        </p:nvSpPr>
        <p:spPr>
          <a:xfrm>
            <a:off x="377200" y="3730752"/>
            <a:ext cx="5555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AF9F5"/>
                </a:solidFill>
                <a:latin typeface="DM Sans"/>
                <a:ea typeface="DM Sans"/>
                <a:cs typeface="DM Sans"/>
                <a:sym typeface="DM Sans"/>
              </a:rPr>
              <a:t>Fairly priced by design: </a:t>
            </a:r>
            <a:r>
              <a:rPr b="0" i="0" lang="en" sz="8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no CMS build, no CRM integration, no seven model templates. That scope belongs to the full website and taking this path </a:t>
            </a:r>
            <a:r>
              <a:rPr lang="en" sz="800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allows you to capitalize on your first market leads</a:t>
            </a:r>
            <a:endParaRPr sz="1100"/>
          </a:p>
        </p:txBody>
      </p:sp>
      <p:sp>
        <p:nvSpPr>
          <p:cNvPr id="344" name="Google Shape;344;p32"/>
          <p:cNvSpPr/>
          <p:nvPr/>
        </p:nvSpPr>
        <p:spPr>
          <a:xfrm>
            <a:off x="6138073" y="1110996"/>
            <a:ext cx="2626684" cy="3429000"/>
          </a:xfrm>
          <a:prstGeom prst="rect">
            <a:avLst/>
          </a:prstGeom>
          <a:solidFill>
            <a:srgbClr val="161616"/>
          </a:solidFill>
          <a:ln cap="flat" cmpd="sng" w="15875">
            <a:solidFill>
              <a:srgbClr val="C4A9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2"/>
          <p:cNvSpPr txBox="1"/>
          <p:nvPr/>
        </p:nvSpPr>
        <p:spPr>
          <a:xfrm>
            <a:off x="6309528" y="1268730"/>
            <a:ext cx="2297400" cy="30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C4A96C"/>
                </a:solidFill>
                <a:latin typeface="DM Sans"/>
                <a:ea typeface="DM Sans"/>
                <a:cs typeface="DM Sans"/>
                <a:sym typeface="DM Sans"/>
              </a:rPr>
              <a:t>THE BRIDGE OFFER</a:t>
            </a:r>
            <a:endParaRPr sz="1100"/>
          </a:p>
          <a:p>
            <a:pPr indent="0" lvl="0" marL="0" marR="0" rtl="0"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ADDITIONAL </a:t>
            </a:r>
            <a:r>
              <a:rPr b="1" i="0" lang="en" sz="14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−10% ON THE FULL WEBSITE PROPOSAL</a:t>
            </a:r>
            <a:endParaRPr sz="1100"/>
          </a:p>
          <a:p>
            <a:pPr indent="0" lvl="0" marL="0" marR="0" rtl="0"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Start with the quick-start, and then proceed to the full-website proposal</a:t>
            </a:r>
            <a:r>
              <a:rPr lang="en" sz="700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 which is</a:t>
            </a: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 already </a:t>
            </a:r>
            <a:r>
              <a:rPr lang="en" sz="700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15</a:t>
            </a: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% discounted</a:t>
            </a:r>
            <a:r>
              <a:rPr lang="en" sz="700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, with this path it</a:t>
            </a:r>
            <a:r>
              <a:rPr b="0" i="0" lang="en" sz="7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 drops a further 10% f</a:t>
            </a:r>
            <a:r>
              <a:rPr lang="en" sz="700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or a total 25% discount.</a:t>
            </a:r>
            <a:endParaRPr sz="1100"/>
          </a:p>
          <a:p>
            <a:pPr indent="0" lvl="0" marL="0" marR="0" rtl="0"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rgbClr val="A8A39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A8A39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AED 5</a:t>
            </a:r>
            <a:r>
              <a:rPr b="1" lang="en" sz="1100">
                <a:solidFill>
                  <a:srgbClr val="A8A39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6</a:t>
            </a:r>
            <a:r>
              <a:rPr b="1" i="0" lang="en" sz="1100" u="none" cap="none" strike="noStrike">
                <a:solidFill>
                  <a:srgbClr val="A8A39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,</a:t>
            </a:r>
            <a:r>
              <a:rPr b="1" lang="en" sz="1100">
                <a:solidFill>
                  <a:srgbClr val="A8A39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95</a:t>
            </a:r>
            <a:r>
              <a:rPr b="1" i="0" lang="en" sz="1100" u="none" cap="none" strike="noStrike">
                <a:solidFill>
                  <a:srgbClr val="A8A39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  →  </a:t>
            </a:r>
            <a:r>
              <a:rPr b="1" i="0" lang="en" sz="1700" u="none" cap="none" strike="noStrike">
                <a:solidFill>
                  <a:srgbClr val="C4A96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AED </a:t>
            </a:r>
            <a:r>
              <a:rPr b="1" lang="en" sz="1700">
                <a:solidFill>
                  <a:srgbClr val="C4A96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50</a:t>
            </a:r>
            <a:r>
              <a:rPr b="1" i="0" lang="en" sz="1700" u="none" cap="none" strike="noStrike">
                <a:solidFill>
                  <a:srgbClr val="C4A96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,</a:t>
            </a:r>
            <a:r>
              <a:rPr b="1" lang="en" sz="1700">
                <a:solidFill>
                  <a:srgbClr val="C4A96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250</a:t>
            </a:r>
            <a:endParaRPr b="1" sz="1700">
              <a:solidFill>
                <a:srgbClr val="C4A96C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800">
                <a:solidFill>
                  <a:srgbClr val="A8A39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USD</a:t>
            </a:r>
            <a:r>
              <a:rPr b="1" lang="en" sz="800">
                <a:solidFill>
                  <a:srgbClr val="A8A39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15,507 	         →    </a:t>
            </a:r>
            <a:r>
              <a:rPr b="1" lang="en">
                <a:solidFill>
                  <a:srgbClr val="C4A96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USD 13,683 </a:t>
            </a:r>
            <a:endParaRPr b="1">
              <a:solidFill>
                <a:srgbClr val="C4A96C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6E6A64"/>
                </a:solidFill>
                <a:latin typeface="DM Sans"/>
                <a:ea typeface="DM Sans"/>
                <a:cs typeface="DM Sans"/>
                <a:sym typeface="DM Sans"/>
              </a:rPr>
              <a:t>+ VAT</a:t>
            </a:r>
            <a:endParaRPr b="1" i="0" sz="600" u="none" cap="none" strike="noStrike">
              <a:solidFill>
                <a:srgbClr val="6E6A6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6E6A6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C4A96C"/>
                </a:solidFill>
                <a:latin typeface="DM Sans"/>
                <a:ea typeface="DM Sans"/>
                <a:cs typeface="DM Sans"/>
                <a:sym typeface="DM Sans"/>
              </a:rPr>
              <a:t>NOTHING IS THROWN AWAY</a:t>
            </a:r>
            <a:endParaRPr sz="1100"/>
          </a:p>
          <a:p>
            <a:pPr indent="0" lvl="0" marL="0" marR="0" rtl="0"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Design system, imagery and Arabic copy carry straight into the full website.</a:t>
            </a:r>
            <a:endParaRPr sz="1100"/>
          </a:p>
          <a:p>
            <a:pPr indent="0" lvl="0" marL="0" marR="0" rtl="0"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rgbClr val="A8A39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C4A96C"/>
                </a:solidFill>
                <a:latin typeface="DM Sans"/>
                <a:ea typeface="DM Sans"/>
                <a:cs typeface="DM Sans"/>
                <a:sym typeface="DM Sans"/>
              </a:rPr>
              <a:t>PAYMENT</a:t>
            </a:r>
            <a:endParaRPr sz="1100"/>
          </a:p>
          <a:p>
            <a:pPr indent="0" lvl="0" marL="0" marR="0" rtl="0"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50% on signature · 50% on launch. </a:t>
            </a:r>
            <a:r>
              <a:rPr lang="en" sz="600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r>
              <a:rPr b="0" i="0" lang="en" sz="6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0-day defect warranty.</a:t>
            </a:r>
            <a:endParaRPr sz="1100"/>
          </a:p>
        </p:txBody>
      </p:sp>
      <p:sp>
        <p:nvSpPr>
          <p:cNvPr id="346" name="Google Shape;346;p32"/>
          <p:cNvSpPr txBox="1"/>
          <p:nvPr/>
        </p:nvSpPr>
        <p:spPr>
          <a:xfrm>
            <a:off x="7132510" y="4855464"/>
            <a:ext cx="16459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6E6A64"/>
                </a:solidFill>
                <a:latin typeface="DM Sans"/>
                <a:ea typeface="DM Sans"/>
                <a:cs typeface="DM Sans"/>
                <a:sym typeface="DM Sans"/>
              </a:rPr>
              <a:t>QUICK-START</a:t>
            </a:r>
            <a:endParaRPr sz="1100"/>
          </a:p>
        </p:txBody>
      </p:sp>
      <p:sp>
        <p:nvSpPr>
          <p:cNvPr id="347" name="Google Shape;347;p32"/>
          <p:cNvSpPr txBox="1"/>
          <p:nvPr/>
        </p:nvSpPr>
        <p:spPr>
          <a:xfrm>
            <a:off x="377200" y="4855464"/>
            <a:ext cx="445781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6E6A64"/>
                </a:solidFill>
                <a:latin typeface="DM Sans"/>
                <a:ea typeface="DM Sans"/>
                <a:cs typeface="DM Sans"/>
                <a:sym typeface="DM Sans"/>
              </a:rPr>
              <a:t>WORX BY GLIMPSE — KGM UAE MICROSITE QUICK-START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12.jpg" id="353" name="Google Shape;353;p33"/>
          <p:cNvPicPr preferRelativeResize="0"/>
          <p:nvPr/>
        </p:nvPicPr>
        <p:blipFill rotWithShape="1">
          <a:blip r:embed="rId3">
            <a:alphaModFix/>
          </a:blip>
          <a:srcRect b="0" l="0" r="21229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2.png" id="354" name="Google Shape;35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7200" y="342900"/>
            <a:ext cx="1028700" cy="162663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3"/>
          <p:cNvSpPr/>
          <p:nvPr/>
        </p:nvSpPr>
        <p:spPr>
          <a:xfrm>
            <a:off x="390916" y="2983229"/>
            <a:ext cx="425207" cy="30861"/>
          </a:xfrm>
          <a:prstGeom prst="rect">
            <a:avLst/>
          </a:prstGeom>
          <a:solidFill>
            <a:srgbClr val="C4A96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3"/>
          <p:cNvSpPr txBox="1"/>
          <p:nvPr/>
        </p:nvSpPr>
        <p:spPr>
          <a:xfrm>
            <a:off x="377200" y="3086100"/>
            <a:ext cx="8366983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900" u="none" cap="none" strike="noStrike">
                <a:solidFill>
                  <a:srgbClr val="FAF9F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READY BEFORE THE CARS LAND.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A8A39C"/>
                </a:solidFill>
                <a:latin typeface="DM Sans"/>
                <a:ea typeface="DM Sans"/>
                <a:cs typeface="DM Sans"/>
                <a:sym typeface="DM Sans"/>
              </a:rPr>
              <a:t>Three weeks to a premium bilingual KGM presence that collects leads — and a further 10% off the full website when we build it together.</a:t>
            </a:r>
            <a:endParaRPr sz="1100"/>
          </a:p>
        </p:txBody>
      </p:sp>
      <p:sp>
        <p:nvSpPr>
          <p:cNvPr id="357" name="Google Shape;357;p33"/>
          <p:cNvSpPr txBox="1"/>
          <p:nvPr/>
        </p:nvSpPr>
        <p:spPr>
          <a:xfrm>
            <a:off x="377200" y="4594860"/>
            <a:ext cx="836698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AF9F5"/>
                </a:solidFill>
                <a:latin typeface="DM Sans"/>
                <a:ea typeface="DM Sans"/>
                <a:cs typeface="DM Sans"/>
                <a:sym typeface="DM Sans"/>
              </a:rPr>
              <a:t>MARWAN BASSAM  ·  WORX BY GLIMPSE  ·  MARWAN@WORXBYGLIMPSE.COM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